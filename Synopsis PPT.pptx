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1426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1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50" b="1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" y="0"/>
            <a:ext cx="9143998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6439" y="122397"/>
            <a:ext cx="6186170" cy="1000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5025" y="1115487"/>
            <a:ext cx="8350484" cy="45543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1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7563" y="237048"/>
            <a:ext cx="1044083" cy="1028381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1598465"/>
            <a:ext cx="9144000" cy="4841875"/>
            <a:chOff x="0" y="1598465"/>
            <a:chExt cx="9144000" cy="484187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598465"/>
              <a:ext cx="9144000" cy="484181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846992" y="6354272"/>
              <a:ext cx="2297430" cy="77470"/>
            </a:xfrm>
            <a:custGeom>
              <a:avLst/>
              <a:gdLst/>
              <a:ahLst/>
              <a:cxnLst/>
              <a:rect l="l" t="t" r="r" b="b"/>
              <a:pathLst>
                <a:path w="2297429" h="77470">
                  <a:moveTo>
                    <a:pt x="2297007" y="76854"/>
                  </a:moveTo>
                  <a:lnTo>
                    <a:pt x="0" y="76854"/>
                  </a:lnTo>
                  <a:lnTo>
                    <a:pt x="0" y="0"/>
                  </a:lnTo>
                  <a:lnTo>
                    <a:pt x="2297007" y="0"/>
                  </a:lnTo>
                  <a:lnTo>
                    <a:pt x="2297007" y="768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2878458" y="295429"/>
            <a:ext cx="7620" cy="85725"/>
          </a:xfrm>
          <a:custGeom>
            <a:avLst/>
            <a:gdLst/>
            <a:ahLst/>
            <a:cxnLst/>
            <a:rect l="l" t="t" r="r" b="b"/>
            <a:pathLst>
              <a:path w="7619" h="85725">
                <a:moveTo>
                  <a:pt x="7326" y="85532"/>
                </a:moveTo>
                <a:lnTo>
                  <a:pt x="0" y="85532"/>
                </a:lnTo>
                <a:lnTo>
                  <a:pt x="0" y="0"/>
                </a:lnTo>
                <a:lnTo>
                  <a:pt x="7326" y="0"/>
                </a:lnTo>
                <a:lnTo>
                  <a:pt x="7326" y="85532"/>
                </a:lnTo>
                <a:close/>
              </a:path>
            </a:pathLst>
          </a:custGeom>
          <a:solidFill>
            <a:srgbClr val="0A62A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865758" y="285241"/>
            <a:ext cx="32384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500" spc="-50" dirty="0">
                <a:solidFill>
                  <a:srgbClr val="F4F7F6"/>
                </a:solidFill>
                <a:latin typeface="Times New Roman"/>
                <a:cs typeface="Times New Roman"/>
              </a:rPr>
              <a:t>'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2978119" y="315255"/>
            <a:ext cx="2289810" cy="564515"/>
          </a:xfrm>
          <a:prstGeom prst="rect">
            <a:avLst/>
          </a:prstGeom>
          <a:solidFill>
            <a:srgbClr val="0A62A5"/>
          </a:solidFill>
        </p:spPr>
        <p:txBody>
          <a:bodyPr vert="horz" wrap="square" lIns="0" tIns="222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75"/>
              </a:spcBef>
            </a:pPr>
            <a:r>
              <a:rPr sz="3100" spc="-455" dirty="0">
                <a:solidFill>
                  <a:srgbClr val="F4F7F6"/>
                </a:solidFill>
                <a:latin typeface="Arial"/>
                <a:cs typeface="Arial"/>
              </a:rPr>
              <a:t>K.R.</a:t>
            </a:r>
            <a:r>
              <a:rPr sz="3100" spc="-229" dirty="0">
                <a:solidFill>
                  <a:srgbClr val="F4F7F6"/>
                </a:solidFill>
                <a:latin typeface="Arial"/>
                <a:cs typeface="Arial"/>
              </a:rPr>
              <a:t> </a:t>
            </a:r>
            <a:r>
              <a:rPr sz="3100" spc="-705" dirty="0">
                <a:solidFill>
                  <a:srgbClr val="F4F7F6"/>
                </a:solidFill>
                <a:latin typeface="Arial"/>
                <a:cs typeface="Arial"/>
              </a:rPr>
              <a:t>MANGALAM</a:t>
            </a:r>
            <a:endParaRPr sz="3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18767" y="315255"/>
            <a:ext cx="1985645" cy="564515"/>
          </a:xfrm>
          <a:prstGeom prst="rect">
            <a:avLst/>
          </a:prstGeom>
          <a:solidFill>
            <a:srgbClr val="DD1D28"/>
          </a:solidFill>
        </p:spPr>
        <p:txBody>
          <a:bodyPr vert="horz" wrap="square" lIns="0" tIns="222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75"/>
              </a:spcBef>
            </a:pPr>
            <a:r>
              <a:rPr sz="3100" b="1" spc="-335" dirty="0">
                <a:solidFill>
                  <a:srgbClr val="F4F7F6"/>
                </a:solidFill>
                <a:latin typeface="Arial"/>
                <a:cs typeface="Arial"/>
              </a:rPr>
              <a:t>UNIVERSITY</a:t>
            </a:r>
            <a:endParaRPr sz="3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88907" y="891637"/>
            <a:ext cx="4649470" cy="427990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44"/>
              </a:spcBef>
              <a:tabLst>
                <a:tab pos="548640" algn="l"/>
                <a:tab pos="1913889" algn="l"/>
                <a:tab pos="2864485" algn="l"/>
              </a:tabLst>
            </a:pPr>
            <a:r>
              <a:rPr sz="1200" spc="-25" dirty="0">
                <a:solidFill>
                  <a:srgbClr val="1C1A1C"/>
                </a:solidFill>
                <a:latin typeface="Arial"/>
                <a:cs typeface="Arial"/>
              </a:rPr>
              <a:t>THE</a:t>
            </a:r>
            <a:r>
              <a:rPr sz="1200" dirty="0">
                <a:solidFill>
                  <a:srgbClr val="1C1A1C"/>
                </a:solidFill>
                <a:latin typeface="Arial"/>
                <a:cs typeface="Arial"/>
              </a:rPr>
              <a:t>	</a:t>
            </a:r>
            <a:r>
              <a:rPr sz="1200" spc="345" dirty="0">
                <a:solidFill>
                  <a:srgbClr val="1C1A1C"/>
                </a:solidFill>
                <a:latin typeface="Arial"/>
                <a:cs typeface="Arial"/>
              </a:rPr>
              <a:t>COMPLETE</a:t>
            </a:r>
            <a:r>
              <a:rPr sz="1200" dirty="0">
                <a:solidFill>
                  <a:srgbClr val="1C1A1C"/>
                </a:solidFill>
                <a:latin typeface="Arial"/>
                <a:cs typeface="Arial"/>
              </a:rPr>
              <a:t>	</a:t>
            </a:r>
            <a:r>
              <a:rPr sz="1200" spc="350" dirty="0">
                <a:solidFill>
                  <a:srgbClr val="1C1A1C"/>
                </a:solidFill>
                <a:latin typeface="Arial"/>
                <a:cs typeface="Arial"/>
              </a:rPr>
              <a:t>WORLD</a:t>
            </a:r>
            <a:r>
              <a:rPr sz="1200" dirty="0">
                <a:solidFill>
                  <a:srgbClr val="1C1A1C"/>
                </a:solidFill>
                <a:latin typeface="Arial"/>
                <a:cs typeface="Arial"/>
              </a:rPr>
              <a:t>	</a:t>
            </a:r>
            <a:r>
              <a:rPr sz="1200" spc="330" dirty="0">
                <a:solidFill>
                  <a:srgbClr val="1C1A1C"/>
                </a:solidFill>
                <a:latin typeface="Arial"/>
                <a:cs typeface="Arial"/>
              </a:rPr>
              <a:t>OF</a:t>
            </a:r>
            <a:r>
              <a:rPr sz="1200" spc="145" dirty="0">
                <a:solidFill>
                  <a:srgbClr val="1C1A1C"/>
                </a:solidFill>
                <a:latin typeface="Arial"/>
                <a:cs typeface="Arial"/>
              </a:rPr>
              <a:t>  </a:t>
            </a:r>
            <a:r>
              <a:rPr sz="1200" spc="365" dirty="0">
                <a:solidFill>
                  <a:srgbClr val="1C1A1C"/>
                </a:solidFill>
                <a:latin typeface="Arial"/>
                <a:cs typeface="Arial"/>
              </a:rPr>
              <a:t>EDUCATION</a:t>
            </a:r>
            <a:endParaRPr sz="1200">
              <a:latin typeface="Arial"/>
              <a:cs typeface="Arial"/>
            </a:endParaRPr>
          </a:p>
          <a:p>
            <a:pPr marR="16510" algn="ctr">
              <a:lnSpc>
                <a:spcPct val="100000"/>
              </a:lnSpc>
              <a:spcBef>
                <a:spcPts val="145"/>
              </a:spcBef>
            </a:pPr>
            <a:r>
              <a:rPr sz="1200" spc="-114" dirty="0">
                <a:solidFill>
                  <a:srgbClr val="1C1A1C"/>
                </a:solidFill>
                <a:latin typeface="Arial"/>
                <a:cs typeface="Arial"/>
              </a:rPr>
              <a:t>Recognised</a:t>
            </a:r>
            <a:r>
              <a:rPr sz="1200" spc="9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200" spc="-70" dirty="0">
                <a:solidFill>
                  <a:srgbClr val="1C1A1C"/>
                </a:solidFill>
                <a:latin typeface="Arial"/>
                <a:cs typeface="Arial"/>
              </a:rPr>
              <a:t>under</a:t>
            </a:r>
            <a:r>
              <a:rPr sz="1200" spc="-5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1C1A1C"/>
                </a:solidFill>
                <a:latin typeface="Arial"/>
                <a:cs typeface="Arial"/>
              </a:rPr>
              <a:t>the</a:t>
            </a:r>
            <a:r>
              <a:rPr sz="1200" spc="-3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200" spc="-80" dirty="0">
                <a:solidFill>
                  <a:srgbClr val="1C1A1C"/>
                </a:solidFill>
                <a:latin typeface="Arial"/>
                <a:cs typeface="Arial"/>
              </a:rPr>
              <a:t>section</a:t>
            </a:r>
            <a:r>
              <a:rPr sz="1200" spc="1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200" spc="-80" dirty="0">
                <a:solidFill>
                  <a:srgbClr val="1C1A1C"/>
                </a:solidFill>
                <a:latin typeface="Arial"/>
                <a:cs typeface="Arial"/>
              </a:rPr>
              <a:t>2</a:t>
            </a:r>
            <a:r>
              <a:rPr sz="1200" spc="-3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150" spc="-25" dirty="0">
                <a:solidFill>
                  <a:srgbClr val="1C1A1C"/>
                </a:solidFill>
                <a:latin typeface="Arial"/>
                <a:cs typeface="Arial"/>
              </a:rPr>
              <a:t>(f)</a:t>
            </a:r>
            <a:r>
              <a:rPr sz="1150" spc="-1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1C1A1C"/>
                </a:solidFill>
                <a:latin typeface="Arial"/>
                <a:cs typeface="Arial"/>
              </a:rPr>
              <a:t>of</a:t>
            </a:r>
            <a:r>
              <a:rPr sz="1200" spc="-5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1C1A1C"/>
                </a:solidFill>
                <a:latin typeface="Arial"/>
                <a:cs typeface="Arial"/>
              </a:rPr>
              <a:t>the</a:t>
            </a:r>
            <a:r>
              <a:rPr sz="1200" spc="-9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200" spc="-195" dirty="0">
                <a:solidFill>
                  <a:srgbClr val="1C1A1C"/>
                </a:solidFill>
                <a:latin typeface="Arial"/>
                <a:cs typeface="Arial"/>
              </a:rPr>
              <a:t>UGC</a:t>
            </a:r>
            <a:r>
              <a:rPr sz="1200" spc="3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200" spc="-105" dirty="0">
                <a:solidFill>
                  <a:srgbClr val="1C1A1C"/>
                </a:solidFill>
                <a:latin typeface="Arial"/>
                <a:cs typeface="Arial"/>
              </a:rPr>
              <a:t>Act</a:t>
            </a:r>
            <a:r>
              <a:rPr sz="1200" spc="-20" dirty="0">
                <a:solidFill>
                  <a:srgbClr val="1C1A1C"/>
                </a:solidFill>
                <a:latin typeface="Arial"/>
                <a:cs typeface="Arial"/>
              </a:rPr>
              <a:t> 1956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28619" y="5497143"/>
            <a:ext cx="3300729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i="1" dirty="0">
                <a:solidFill>
                  <a:srgbClr val="1C1A1C"/>
                </a:solidFill>
                <a:latin typeface="Arial"/>
                <a:cs typeface="Arial"/>
              </a:rPr>
              <a:t>Youth;</a:t>
            </a:r>
            <a:r>
              <a:rPr sz="1850" i="1" spc="12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850" i="1" dirty="0">
                <a:solidFill>
                  <a:srgbClr val="1C1A1C"/>
                </a:solidFill>
                <a:latin typeface="Arial"/>
                <a:cs typeface="Arial"/>
              </a:rPr>
              <a:t>Empowering</a:t>
            </a:r>
            <a:r>
              <a:rPr sz="1850" i="1" spc="265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850" i="1" dirty="0">
                <a:solidFill>
                  <a:srgbClr val="1C1A1C"/>
                </a:solidFill>
                <a:latin typeface="Arial"/>
                <a:cs typeface="Arial"/>
              </a:rPr>
              <a:t>the</a:t>
            </a:r>
            <a:r>
              <a:rPr sz="1850" i="1" spc="80" dirty="0">
                <a:solidFill>
                  <a:srgbClr val="1C1A1C"/>
                </a:solidFill>
                <a:latin typeface="Arial"/>
                <a:cs typeface="Arial"/>
              </a:rPr>
              <a:t> </a:t>
            </a:r>
            <a:r>
              <a:rPr sz="1850" i="1" spc="-10" dirty="0">
                <a:solidFill>
                  <a:srgbClr val="1C1A1C"/>
                </a:solidFill>
                <a:latin typeface="Arial"/>
                <a:cs typeface="Arial"/>
              </a:rPr>
              <a:t>Nation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14201" y="0"/>
            <a:ext cx="9126855" cy="6858000"/>
            <a:chOff x="0" y="0"/>
            <a:chExt cx="912685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26252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520414" y="2060848"/>
              <a:ext cx="6306820" cy="0"/>
            </a:xfrm>
            <a:custGeom>
              <a:avLst/>
              <a:gdLst/>
              <a:ahLst/>
              <a:cxnLst/>
              <a:rect l="l" t="t" r="r" b="b"/>
              <a:pathLst>
                <a:path w="6306820">
                  <a:moveTo>
                    <a:pt x="0" y="0"/>
                  </a:moveTo>
                  <a:lnTo>
                    <a:pt x="6306545" y="0"/>
                  </a:lnTo>
                </a:path>
              </a:pathLst>
            </a:custGeom>
            <a:ln w="9524">
              <a:solidFill>
                <a:srgbClr val="4A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0382" y="150274"/>
              <a:ext cx="6396064" cy="920872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2369386" y="2176163"/>
            <a:ext cx="438047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6010" marR="5080" indent="-1083945" algn="ctr">
              <a:lnSpc>
                <a:spcPct val="100000"/>
              </a:lnSpc>
              <a:spcBef>
                <a:spcPts val="100"/>
              </a:spcBef>
            </a:pPr>
            <a:r>
              <a:rPr lang="en-US" sz="2400" b="1" spc="-25" dirty="0">
                <a:solidFill>
                  <a:schemeClr val="tx1"/>
                </a:solidFill>
                <a:latin typeface="Calibri"/>
                <a:cs typeface="Calibri"/>
              </a:rPr>
              <a:t>2</a:t>
            </a:r>
            <a:r>
              <a:rPr lang="en-US" sz="2400" b="1" spc="-25" baseline="30000" dirty="0">
                <a:solidFill>
                  <a:schemeClr val="tx1"/>
                </a:solidFill>
                <a:latin typeface="Calibri"/>
                <a:cs typeface="Calibri"/>
              </a:rPr>
              <a:t>nd</a:t>
            </a:r>
            <a:r>
              <a:rPr lang="en-US" sz="2400" b="1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b="1" spc="-35" dirty="0">
                <a:solidFill>
                  <a:schemeClr val="tx1"/>
                </a:solidFill>
                <a:latin typeface="Calibri"/>
                <a:cs typeface="Calibri"/>
              </a:rPr>
              <a:t>Year</a:t>
            </a:r>
            <a:r>
              <a:rPr sz="2400" b="1" spc="-8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chemeClr val="tx1"/>
                </a:solidFill>
                <a:latin typeface="Calibri"/>
                <a:cs typeface="Calibri"/>
              </a:rPr>
              <a:t>Project</a:t>
            </a:r>
            <a:r>
              <a:rPr sz="2400" b="1" spc="-8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chemeClr val="tx1"/>
                </a:solidFill>
                <a:latin typeface="Calibri"/>
                <a:cs typeface="Calibri"/>
              </a:rPr>
              <a:t>Synopsis</a:t>
            </a:r>
            <a:endParaRPr lang="en-US" sz="2400" b="1" spc="-1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1096010" marR="5080" indent="-1083945" algn="ctr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chemeClr val="tx1"/>
                </a:solidFill>
                <a:latin typeface="Calibri"/>
                <a:cs typeface="Calibri"/>
              </a:rPr>
              <a:t>Submitted</a:t>
            </a:r>
            <a:r>
              <a:rPr sz="2400" b="1" spc="-11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chemeClr val="tx1"/>
                </a:solidFill>
                <a:latin typeface="Calibri"/>
                <a:cs typeface="Calibri"/>
              </a:rPr>
              <a:t>by</a:t>
            </a:r>
            <a:endParaRPr sz="24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0991397"/>
              </p:ext>
            </p:extLst>
          </p:nvPr>
        </p:nvGraphicFramePr>
        <p:xfrm>
          <a:off x="1689784" y="3079651"/>
          <a:ext cx="6096000" cy="18173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ROLL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2401730183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Chirag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Sharma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2401730170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Vikram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lang="en-US" sz="1800" dirty="0">
                          <a:latin typeface="Calibri"/>
                          <a:cs typeface="Calibri"/>
                        </a:rPr>
                        <a:t>2401730213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lang="en-US" sz="1800" dirty="0">
                          <a:latin typeface="Calibri"/>
                          <a:cs typeface="Calibri"/>
                        </a:rPr>
                        <a:t>Saurav Kumar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6331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lang="en-US" sz="1800" dirty="0">
                          <a:latin typeface="Calibri"/>
                          <a:cs typeface="Calibri"/>
                        </a:rPr>
                        <a:t>2401730196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lang="en-US" sz="1800" dirty="0">
                          <a:latin typeface="Calibri"/>
                          <a:cs typeface="Calibri"/>
                        </a:rPr>
                        <a:t>Ansh Jangid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5781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lang="en-US" sz="1800" dirty="0">
                          <a:latin typeface="Calibri"/>
                          <a:cs typeface="Calibri"/>
                        </a:rPr>
                        <a:t>2401730076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lang="en-US" sz="1800" dirty="0">
                          <a:latin typeface="Calibri"/>
                          <a:cs typeface="Calibri"/>
                        </a:rPr>
                        <a:t>Utkarsh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1476715"/>
                  </a:ext>
                </a:extLst>
              </a:tr>
            </a:tbl>
          </a:graphicData>
        </a:graphic>
      </p:graphicFrame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914400" y="1163269"/>
            <a:ext cx="7069654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Design and Implementation of a Mini Relational Database Engine</a:t>
            </a:r>
            <a:endParaRPr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9465" y="6084791"/>
            <a:ext cx="1528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70C0"/>
                </a:solidFill>
                <a:latin typeface="Calibri"/>
                <a:cs typeface="Calibri"/>
              </a:rPr>
              <a:t>Faculty</a:t>
            </a:r>
            <a:r>
              <a:rPr sz="1800" b="1" spc="-8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70C0"/>
                </a:solidFill>
                <a:latin typeface="Calibri"/>
                <a:cs typeface="Calibri"/>
              </a:rPr>
              <a:t>Mentor: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78721" y="6045675"/>
            <a:ext cx="2721610" cy="350520"/>
          </a:xfrm>
          <a:prstGeom prst="rect">
            <a:avLst/>
          </a:prstGeom>
          <a:solidFill>
            <a:srgbClr val="F4F6F9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70"/>
              </a:lnSpc>
            </a:pPr>
            <a:r>
              <a:rPr sz="2300" dirty="0">
                <a:solidFill>
                  <a:srgbClr val="2C3E50"/>
                </a:solidFill>
                <a:latin typeface="Arial"/>
                <a:cs typeface="Arial"/>
              </a:rPr>
              <a:t>Mr.</a:t>
            </a:r>
            <a:r>
              <a:rPr sz="2300" spc="-120" dirty="0">
                <a:solidFill>
                  <a:srgbClr val="2C3E50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2C3E50"/>
                </a:solidFill>
                <a:latin typeface="Arial"/>
                <a:cs typeface="Arial"/>
              </a:rPr>
              <a:t>Vishwanil</a:t>
            </a:r>
            <a:r>
              <a:rPr sz="2300" spc="-120" dirty="0">
                <a:solidFill>
                  <a:srgbClr val="2C3E50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2C3E50"/>
                </a:solidFill>
                <a:latin typeface="Arial"/>
                <a:cs typeface="Arial"/>
              </a:rPr>
              <a:t>Suman</a:t>
            </a:r>
            <a:endParaRPr sz="2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1487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</a:t>
            </a:r>
            <a:r>
              <a:rPr spc="-165" dirty="0"/>
              <a:t> </a:t>
            </a:r>
            <a:r>
              <a:rPr spc="-10" dirty="0"/>
              <a:t>Overview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048747"/>
            <a:ext cx="9144000" cy="25400"/>
          </a:xfrm>
          <a:custGeom>
            <a:avLst/>
            <a:gdLst/>
            <a:ahLst/>
            <a:cxnLst/>
            <a:rect l="l" t="t" r="r" b="b"/>
            <a:pathLst>
              <a:path w="9144000" h="25400">
                <a:moveTo>
                  <a:pt x="9143999" y="25399"/>
                </a:moveTo>
                <a:lnTo>
                  <a:pt x="0" y="253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25399"/>
                </a:lnTo>
                <a:close/>
              </a:path>
            </a:pathLst>
          </a:custGeom>
          <a:solidFill>
            <a:srgbClr val="0060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08" y="6309320"/>
            <a:ext cx="2411759" cy="34669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15956" rIns="0" bIns="0" rtlCol="0">
            <a:spAutoFit/>
          </a:bodyPr>
          <a:lstStyle/>
          <a:p>
            <a:pPr marL="576580" marR="883285" indent="-412750">
              <a:lnSpc>
                <a:spcPts val="2880"/>
              </a:lnSpc>
              <a:spcBef>
                <a:spcPts val="240"/>
              </a:spcBef>
              <a:buSzPct val="97959"/>
              <a:buChar char="●"/>
              <a:tabLst>
                <a:tab pos="576580" algn="l"/>
              </a:tabLst>
            </a:pPr>
            <a:r>
              <a:rPr spc="120" dirty="0"/>
              <a:t>Databases</a:t>
            </a:r>
            <a:r>
              <a:rPr spc="30" dirty="0"/>
              <a:t> </a:t>
            </a:r>
            <a:r>
              <a:rPr spc="160" dirty="0"/>
              <a:t>are</a:t>
            </a:r>
            <a:r>
              <a:rPr spc="30" dirty="0"/>
              <a:t> </a:t>
            </a:r>
            <a:r>
              <a:rPr spc="185" dirty="0"/>
              <a:t>an</a:t>
            </a:r>
            <a:r>
              <a:rPr spc="30" dirty="0"/>
              <a:t> </a:t>
            </a:r>
            <a:r>
              <a:rPr spc="80" dirty="0"/>
              <a:t>essential</a:t>
            </a:r>
            <a:r>
              <a:rPr spc="30" dirty="0"/>
              <a:t> </a:t>
            </a:r>
            <a:r>
              <a:rPr spc="195" dirty="0"/>
              <a:t>part</a:t>
            </a:r>
            <a:r>
              <a:rPr spc="30" dirty="0"/>
              <a:t> </a:t>
            </a:r>
            <a:r>
              <a:rPr spc="90" dirty="0"/>
              <a:t>of</a:t>
            </a:r>
            <a:r>
              <a:rPr spc="30" dirty="0"/>
              <a:t> </a:t>
            </a:r>
            <a:r>
              <a:rPr spc="120" dirty="0"/>
              <a:t>modern</a:t>
            </a:r>
            <a:r>
              <a:rPr i="1" spc="120" dirty="0"/>
              <a:t> </a:t>
            </a:r>
            <a:r>
              <a:rPr i="1" spc="60" dirty="0"/>
              <a:t>software</a:t>
            </a:r>
            <a:r>
              <a:rPr i="1" spc="40" dirty="0"/>
              <a:t> </a:t>
            </a:r>
            <a:r>
              <a:rPr i="1" spc="-10" dirty="0"/>
              <a:t>systems.</a:t>
            </a:r>
          </a:p>
          <a:p>
            <a:pPr marL="576580" marR="5080" indent="-412750">
              <a:lnSpc>
                <a:spcPts val="2880"/>
              </a:lnSpc>
              <a:buSzPct val="97959"/>
              <a:buChar char="●"/>
              <a:tabLst>
                <a:tab pos="576580" algn="l"/>
              </a:tabLst>
            </a:pPr>
            <a:r>
              <a:rPr spc="125" dirty="0"/>
              <a:t>Most</a:t>
            </a:r>
            <a:r>
              <a:rPr spc="50" dirty="0"/>
              <a:t> </a:t>
            </a:r>
            <a:r>
              <a:rPr spc="65" dirty="0"/>
              <a:t>users</a:t>
            </a:r>
            <a:r>
              <a:rPr spc="50" dirty="0"/>
              <a:t> </a:t>
            </a:r>
            <a:r>
              <a:rPr spc="125" dirty="0"/>
              <a:t>interact</a:t>
            </a:r>
            <a:r>
              <a:rPr spc="55" dirty="0"/>
              <a:t> </a:t>
            </a:r>
            <a:r>
              <a:rPr dirty="0"/>
              <a:t>with</a:t>
            </a:r>
            <a:r>
              <a:rPr spc="50" dirty="0"/>
              <a:t> </a:t>
            </a:r>
            <a:r>
              <a:rPr spc="130" dirty="0"/>
              <a:t>databases</a:t>
            </a:r>
            <a:r>
              <a:rPr spc="55" dirty="0"/>
              <a:t> </a:t>
            </a:r>
            <a:r>
              <a:rPr spc="50" dirty="0"/>
              <a:t>only </a:t>
            </a:r>
            <a:r>
              <a:rPr spc="110" dirty="0"/>
              <a:t>through</a:t>
            </a:r>
            <a:r>
              <a:rPr i="1" spc="110" dirty="0"/>
              <a:t> </a:t>
            </a:r>
            <a:r>
              <a:rPr i="1" spc="114" dirty="0"/>
              <a:t>SQL</a:t>
            </a:r>
            <a:r>
              <a:rPr i="1" spc="25" dirty="0"/>
              <a:t> </a:t>
            </a:r>
            <a:r>
              <a:rPr i="1" spc="65" dirty="0"/>
              <a:t>commands.</a:t>
            </a:r>
          </a:p>
          <a:p>
            <a:pPr marL="576580" marR="224790" indent="-412750">
              <a:lnSpc>
                <a:spcPts val="2880"/>
              </a:lnSpc>
              <a:buSzPct val="97959"/>
              <a:buChar char="●"/>
              <a:tabLst>
                <a:tab pos="576580" algn="l"/>
              </a:tabLst>
            </a:pPr>
            <a:r>
              <a:rPr spc="130" dirty="0"/>
              <a:t>Internal</a:t>
            </a:r>
            <a:r>
              <a:rPr spc="50" dirty="0"/>
              <a:t> processes</a:t>
            </a:r>
            <a:r>
              <a:rPr spc="60" dirty="0"/>
              <a:t> </a:t>
            </a:r>
            <a:r>
              <a:rPr dirty="0"/>
              <a:t>like</a:t>
            </a:r>
            <a:r>
              <a:rPr spc="50" dirty="0"/>
              <a:t> </a:t>
            </a:r>
            <a:r>
              <a:rPr spc="105" dirty="0"/>
              <a:t>query</a:t>
            </a:r>
            <a:r>
              <a:rPr spc="55" dirty="0"/>
              <a:t> </a:t>
            </a:r>
            <a:r>
              <a:rPr spc="95" dirty="0"/>
              <a:t>parsing,</a:t>
            </a:r>
            <a:r>
              <a:rPr spc="50" dirty="0"/>
              <a:t> indexing,</a:t>
            </a:r>
            <a:r>
              <a:rPr i="1" spc="50" dirty="0"/>
              <a:t> </a:t>
            </a:r>
            <a:r>
              <a:rPr i="1" spc="185" dirty="0"/>
              <a:t>and</a:t>
            </a:r>
            <a:r>
              <a:rPr i="1" spc="25" dirty="0"/>
              <a:t> </a:t>
            </a:r>
            <a:r>
              <a:rPr i="1" spc="70" dirty="0"/>
              <a:t>execution</a:t>
            </a:r>
            <a:r>
              <a:rPr i="1" spc="25" dirty="0"/>
              <a:t> </a:t>
            </a:r>
            <a:r>
              <a:rPr i="1" spc="125" dirty="0"/>
              <a:t>remain</a:t>
            </a:r>
            <a:r>
              <a:rPr i="1" spc="25" dirty="0"/>
              <a:t> </a:t>
            </a:r>
            <a:r>
              <a:rPr i="1" spc="85" dirty="0"/>
              <a:t>hidden.</a:t>
            </a:r>
          </a:p>
          <a:p>
            <a:pPr marL="576580" marR="838835" indent="-412750">
              <a:lnSpc>
                <a:spcPts val="2880"/>
              </a:lnSpc>
              <a:buSzPct val="97959"/>
              <a:buChar char="●"/>
              <a:tabLst>
                <a:tab pos="576580" algn="l"/>
              </a:tabLst>
            </a:pPr>
            <a:r>
              <a:rPr spc="50" dirty="0"/>
              <a:t>This</a:t>
            </a:r>
            <a:r>
              <a:rPr spc="35" dirty="0"/>
              <a:t> </a:t>
            </a:r>
            <a:r>
              <a:rPr spc="85" dirty="0"/>
              <a:t>project</a:t>
            </a:r>
            <a:r>
              <a:rPr spc="40" dirty="0"/>
              <a:t> </a:t>
            </a:r>
            <a:r>
              <a:rPr spc="55" dirty="0"/>
              <a:t>develops</a:t>
            </a:r>
            <a:r>
              <a:rPr spc="40" dirty="0"/>
              <a:t> </a:t>
            </a:r>
            <a:r>
              <a:rPr spc="245" dirty="0"/>
              <a:t>a</a:t>
            </a:r>
            <a:r>
              <a:rPr spc="35" dirty="0"/>
              <a:t> </a:t>
            </a:r>
            <a:r>
              <a:rPr spc="55" dirty="0"/>
              <a:t>simpliﬁed</a:t>
            </a:r>
            <a:r>
              <a:rPr spc="40" dirty="0"/>
              <a:t> </a:t>
            </a:r>
            <a:r>
              <a:rPr spc="100" dirty="0"/>
              <a:t>relational</a:t>
            </a:r>
            <a:r>
              <a:rPr i="1" spc="100" dirty="0"/>
              <a:t> </a:t>
            </a:r>
            <a:r>
              <a:rPr i="1" spc="155" dirty="0"/>
              <a:t>database</a:t>
            </a:r>
            <a:r>
              <a:rPr i="1" spc="55" dirty="0"/>
              <a:t> </a:t>
            </a:r>
            <a:r>
              <a:rPr i="1" spc="60" dirty="0"/>
              <a:t>engine.</a:t>
            </a:r>
          </a:p>
          <a:p>
            <a:pPr marL="576580" marR="515620" indent="-412750">
              <a:lnSpc>
                <a:spcPts val="2880"/>
              </a:lnSpc>
              <a:buSzPct val="97959"/>
              <a:buChar char="●"/>
              <a:tabLst>
                <a:tab pos="576580" algn="l"/>
              </a:tabLst>
            </a:pPr>
            <a:r>
              <a:rPr spc="70" dirty="0"/>
              <a:t>Emphasis</a:t>
            </a:r>
            <a:r>
              <a:rPr spc="25" dirty="0"/>
              <a:t> </a:t>
            </a:r>
            <a:r>
              <a:rPr dirty="0"/>
              <a:t>is</a:t>
            </a:r>
            <a:r>
              <a:rPr spc="25" dirty="0"/>
              <a:t> </a:t>
            </a:r>
            <a:r>
              <a:rPr spc="120" dirty="0"/>
              <a:t>on</a:t>
            </a:r>
            <a:r>
              <a:rPr spc="30" dirty="0"/>
              <a:t> </a:t>
            </a:r>
            <a:r>
              <a:rPr spc="114" dirty="0"/>
              <a:t>learning</a:t>
            </a:r>
            <a:r>
              <a:rPr spc="25" dirty="0"/>
              <a:t> </a:t>
            </a:r>
            <a:r>
              <a:rPr spc="130" dirty="0"/>
              <a:t>internal</a:t>
            </a:r>
            <a:r>
              <a:rPr spc="30" dirty="0"/>
              <a:t> </a:t>
            </a:r>
            <a:r>
              <a:rPr spc="55" dirty="0"/>
              <a:t>mechanisms</a:t>
            </a:r>
            <a:r>
              <a:rPr i="1" spc="55" dirty="0"/>
              <a:t> </a:t>
            </a:r>
            <a:r>
              <a:rPr i="1" spc="155" dirty="0"/>
              <a:t>rather</a:t>
            </a:r>
            <a:r>
              <a:rPr i="1" spc="35" dirty="0"/>
              <a:t> </a:t>
            </a:r>
            <a:r>
              <a:rPr i="1" spc="165" dirty="0"/>
              <a:t>than</a:t>
            </a:r>
            <a:r>
              <a:rPr i="1" spc="40" dirty="0"/>
              <a:t> </a:t>
            </a:r>
            <a:r>
              <a:rPr i="1" spc="100" dirty="0"/>
              <a:t>performance.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2537" y="171184"/>
            <a:ext cx="43338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Specific</a:t>
            </a:r>
            <a:r>
              <a:rPr spc="-180" dirty="0"/>
              <a:t> </a:t>
            </a:r>
            <a:r>
              <a:rPr spc="-10" dirty="0"/>
              <a:t>Objectives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048747"/>
            <a:ext cx="9144000" cy="25400"/>
          </a:xfrm>
          <a:custGeom>
            <a:avLst/>
            <a:gdLst/>
            <a:ahLst/>
            <a:cxnLst/>
            <a:rect l="l" t="t" r="r" b="b"/>
            <a:pathLst>
              <a:path w="9144000" h="25400">
                <a:moveTo>
                  <a:pt x="9143999" y="25399"/>
                </a:moveTo>
                <a:lnTo>
                  <a:pt x="0" y="253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25399"/>
                </a:lnTo>
                <a:close/>
              </a:path>
            </a:pathLst>
          </a:custGeom>
          <a:solidFill>
            <a:srgbClr val="0060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08" y="6309320"/>
            <a:ext cx="2411759" cy="34669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81883" y="1115487"/>
            <a:ext cx="7681595" cy="308102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432434" marR="319405" indent="-420370">
              <a:lnSpc>
                <a:spcPts val="3000"/>
              </a:lnSpc>
              <a:spcBef>
                <a:spcPts val="250"/>
              </a:spcBef>
              <a:buSzPct val="98039"/>
              <a:buChar char="●"/>
              <a:tabLst>
                <a:tab pos="432434" algn="l"/>
              </a:tabLst>
            </a:pPr>
            <a:r>
              <a:rPr sz="2550" b="1" i="1" spc="155" dirty="0">
                <a:latin typeface="Arial"/>
                <a:cs typeface="Arial"/>
              </a:rPr>
              <a:t>Understand</a:t>
            </a:r>
            <a:r>
              <a:rPr sz="2550" b="1" i="1" spc="30" dirty="0">
                <a:latin typeface="Arial"/>
                <a:cs typeface="Arial"/>
              </a:rPr>
              <a:t> </a:t>
            </a:r>
            <a:r>
              <a:rPr sz="2550" b="1" i="1" spc="135" dirty="0">
                <a:latin typeface="Arial"/>
                <a:cs typeface="Arial"/>
              </a:rPr>
              <a:t>internal</a:t>
            </a:r>
            <a:r>
              <a:rPr sz="2550" b="1" i="1" spc="30" dirty="0">
                <a:latin typeface="Arial"/>
                <a:cs typeface="Arial"/>
              </a:rPr>
              <a:t> </a:t>
            </a:r>
            <a:r>
              <a:rPr sz="2550" b="1" i="1" spc="55" dirty="0">
                <a:latin typeface="Arial"/>
                <a:cs typeface="Arial"/>
              </a:rPr>
              <a:t>working</a:t>
            </a:r>
            <a:r>
              <a:rPr sz="2550" b="1" i="1" spc="30" dirty="0">
                <a:latin typeface="Arial"/>
                <a:cs typeface="Arial"/>
              </a:rPr>
              <a:t> </a:t>
            </a:r>
            <a:r>
              <a:rPr sz="2550" b="1" i="1" spc="95" dirty="0">
                <a:latin typeface="Arial"/>
                <a:cs typeface="Arial"/>
              </a:rPr>
              <a:t>of</a:t>
            </a:r>
            <a:r>
              <a:rPr sz="2550" b="1" i="1" spc="35" dirty="0">
                <a:latin typeface="Arial"/>
                <a:cs typeface="Arial"/>
              </a:rPr>
              <a:t> </a:t>
            </a:r>
            <a:r>
              <a:rPr sz="2550" b="1" i="1" spc="165" dirty="0">
                <a:latin typeface="Arial"/>
                <a:cs typeface="Arial"/>
              </a:rPr>
              <a:t>database </a:t>
            </a:r>
            <a:r>
              <a:rPr sz="2550" b="1" i="1" spc="-10" dirty="0">
                <a:latin typeface="Arial"/>
                <a:cs typeface="Arial"/>
              </a:rPr>
              <a:t>systems</a:t>
            </a:r>
            <a:endParaRPr sz="2550">
              <a:latin typeface="Arial"/>
              <a:cs typeface="Arial"/>
            </a:endParaRPr>
          </a:p>
          <a:p>
            <a:pPr marL="432434" marR="226695" indent="-420370">
              <a:lnSpc>
                <a:spcPts val="3000"/>
              </a:lnSpc>
              <a:buSzPct val="98039"/>
              <a:buChar char="●"/>
              <a:tabLst>
                <a:tab pos="432434" algn="l"/>
              </a:tabLst>
            </a:pPr>
            <a:r>
              <a:rPr sz="2550" b="1" i="1" spc="90" dirty="0">
                <a:latin typeface="Arial"/>
                <a:cs typeface="Arial"/>
              </a:rPr>
              <a:t>Implement</a:t>
            </a:r>
            <a:r>
              <a:rPr sz="2550" b="1" i="1" spc="35" dirty="0">
                <a:latin typeface="Arial"/>
                <a:cs typeface="Arial"/>
              </a:rPr>
              <a:t> </a:t>
            </a:r>
            <a:r>
              <a:rPr sz="2550" b="1" i="1" spc="120" dirty="0">
                <a:latin typeface="Arial"/>
                <a:cs typeface="Arial"/>
              </a:rPr>
              <a:t>SQL</a:t>
            </a:r>
            <a:r>
              <a:rPr sz="2550" b="1" i="1" spc="35" dirty="0">
                <a:latin typeface="Arial"/>
                <a:cs typeface="Arial"/>
              </a:rPr>
              <a:t> </a:t>
            </a:r>
            <a:r>
              <a:rPr sz="2550" b="1" i="1" spc="65" dirty="0">
                <a:latin typeface="Arial"/>
                <a:cs typeface="Arial"/>
              </a:rPr>
              <a:t>parser,</a:t>
            </a:r>
            <a:r>
              <a:rPr sz="2550" b="1" i="1" spc="35" dirty="0">
                <a:latin typeface="Arial"/>
                <a:cs typeface="Arial"/>
              </a:rPr>
              <a:t> </a:t>
            </a:r>
            <a:r>
              <a:rPr sz="2550" b="1" i="1" spc="120" dirty="0">
                <a:latin typeface="Arial"/>
                <a:cs typeface="Arial"/>
              </a:rPr>
              <a:t>query</a:t>
            </a:r>
            <a:r>
              <a:rPr sz="2550" b="1" i="1" spc="35" dirty="0">
                <a:latin typeface="Arial"/>
                <a:cs typeface="Arial"/>
              </a:rPr>
              <a:t> </a:t>
            </a:r>
            <a:r>
              <a:rPr sz="2550" b="1" i="1" spc="65" dirty="0">
                <a:latin typeface="Arial"/>
                <a:cs typeface="Arial"/>
              </a:rPr>
              <a:t>planner,</a:t>
            </a:r>
            <a:r>
              <a:rPr sz="2550" b="1" i="1" spc="40" dirty="0">
                <a:latin typeface="Arial"/>
                <a:cs typeface="Arial"/>
              </a:rPr>
              <a:t> </a:t>
            </a:r>
            <a:r>
              <a:rPr sz="2550" b="1" i="1" spc="170" dirty="0">
                <a:latin typeface="Arial"/>
                <a:cs typeface="Arial"/>
              </a:rPr>
              <a:t>and </a:t>
            </a:r>
            <a:r>
              <a:rPr sz="2550" b="1" i="1" spc="70" dirty="0">
                <a:latin typeface="Arial"/>
                <a:cs typeface="Arial"/>
              </a:rPr>
              <a:t>execution</a:t>
            </a:r>
            <a:r>
              <a:rPr sz="2550" b="1" i="1" spc="55" dirty="0">
                <a:latin typeface="Arial"/>
                <a:cs typeface="Arial"/>
              </a:rPr>
              <a:t> </a:t>
            </a:r>
            <a:r>
              <a:rPr sz="2550" b="1" i="1" spc="95" dirty="0">
                <a:latin typeface="Arial"/>
                <a:cs typeface="Arial"/>
              </a:rPr>
              <a:t>engine</a:t>
            </a:r>
            <a:endParaRPr sz="2550">
              <a:latin typeface="Arial"/>
              <a:cs typeface="Arial"/>
            </a:endParaRPr>
          </a:p>
          <a:p>
            <a:pPr marL="432434" marR="894715" indent="-420370">
              <a:lnSpc>
                <a:spcPts val="3000"/>
              </a:lnSpc>
              <a:buSzPct val="98039"/>
              <a:buChar char="●"/>
              <a:tabLst>
                <a:tab pos="432434" algn="l"/>
              </a:tabLst>
            </a:pPr>
            <a:r>
              <a:rPr sz="2550" b="1" i="1" spc="150" dirty="0">
                <a:latin typeface="Arial"/>
                <a:cs typeface="Arial"/>
              </a:rPr>
              <a:t>Learn</a:t>
            </a:r>
            <a:r>
              <a:rPr sz="2550" b="1" i="1" spc="80" dirty="0">
                <a:latin typeface="Arial"/>
                <a:cs typeface="Arial"/>
              </a:rPr>
              <a:t> </a:t>
            </a:r>
            <a:r>
              <a:rPr sz="2550" b="1" i="1" dirty="0">
                <a:latin typeface="Arial"/>
                <a:cs typeface="Arial"/>
              </a:rPr>
              <a:t>ﬁle-</a:t>
            </a:r>
            <a:r>
              <a:rPr sz="2550" b="1" i="1" spc="140" dirty="0">
                <a:latin typeface="Arial"/>
                <a:cs typeface="Arial"/>
              </a:rPr>
              <a:t>based</a:t>
            </a:r>
            <a:r>
              <a:rPr sz="2550" b="1" i="1" spc="85" dirty="0">
                <a:latin typeface="Arial"/>
                <a:cs typeface="Arial"/>
              </a:rPr>
              <a:t> </a:t>
            </a:r>
            <a:r>
              <a:rPr sz="2550" b="1" i="1" spc="114" dirty="0">
                <a:latin typeface="Arial"/>
                <a:cs typeface="Arial"/>
              </a:rPr>
              <a:t>storage</a:t>
            </a:r>
            <a:r>
              <a:rPr sz="2550" b="1" i="1" spc="80" dirty="0">
                <a:latin typeface="Arial"/>
                <a:cs typeface="Arial"/>
              </a:rPr>
              <a:t> </a:t>
            </a:r>
            <a:r>
              <a:rPr sz="2550" b="1" i="1" spc="195" dirty="0">
                <a:latin typeface="Arial"/>
                <a:cs typeface="Arial"/>
              </a:rPr>
              <a:t>and</a:t>
            </a:r>
            <a:r>
              <a:rPr sz="2550" b="1" i="1" spc="85" dirty="0">
                <a:latin typeface="Arial"/>
                <a:cs typeface="Arial"/>
              </a:rPr>
              <a:t> </a:t>
            </a:r>
            <a:r>
              <a:rPr sz="2550" b="1" i="1" spc="70" dirty="0">
                <a:latin typeface="Arial"/>
                <a:cs typeface="Arial"/>
              </a:rPr>
              <a:t>indexing </a:t>
            </a:r>
            <a:r>
              <a:rPr sz="2550" b="1" i="1" spc="85" dirty="0">
                <a:latin typeface="Arial"/>
                <a:cs typeface="Arial"/>
              </a:rPr>
              <a:t>concepts</a:t>
            </a:r>
            <a:endParaRPr sz="2550">
              <a:latin typeface="Arial"/>
              <a:cs typeface="Arial"/>
            </a:endParaRPr>
          </a:p>
          <a:p>
            <a:pPr marL="432434" marR="5080" indent="-420370">
              <a:lnSpc>
                <a:spcPts val="3000"/>
              </a:lnSpc>
              <a:buSzPct val="98039"/>
              <a:buChar char="●"/>
              <a:tabLst>
                <a:tab pos="432434" algn="l"/>
              </a:tabLst>
            </a:pPr>
            <a:r>
              <a:rPr sz="2550" b="1" i="1" spc="70" dirty="0">
                <a:latin typeface="Arial"/>
                <a:cs typeface="Arial"/>
              </a:rPr>
              <a:t>Gain</a:t>
            </a:r>
            <a:r>
              <a:rPr sz="2550" b="1" i="1" spc="130" dirty="0">
                <a:latin typeface="Arial"/>
                <a:cs typeface="Arial"/>
              </a:rPr>
              <a:t> </a:t>
            </a:r>
            <a:r>
              <a:rPr sz="2550" b="1" i="1" spc="120" dirty="0">
                <a:latin typeface="Arial"/>
                <a:cs typeface="Arial"/>
              </a:rPr>
              <a:t>hands-</a:t>
            </a:r>
            <a:r>
              <a:rPr sz="2550" b="1" i="1" spc="125" dirty="0">
                <a:latin typeface="Arial"/>
                <a:cs typeface="Arial"/>
              </a:rPr>
              <a:t>on</a:t>
            </a:r>
            <a:r>
              <a:rPr sz="2550" b="1" i="1" spc="135" dirty="0">
                <a:latin typeface="Arial"/>
                <a:cs typeface="Arial"/>
              </a:rPr>
              <a:t> </a:t>
            </a:r>
            <a:r>
              <a:rPr sz="2550" b="1" i="1" spc="110" dirty="0">
                <a:latin typeface="Arial"/>
                <a:cs typeface="Arial"/>
              </a:rPr>
              <a:t>experience</a:t>
            </a:r>
            <a:r>
              <a:rPr sz="2550" b="1" i="1" spc="140" dirty="0">
                <a:latin typeface="Arial"/>
                <a:cs typeface="Arial"/>
              </a:rPr>
              <a:t> </a:t>
            </a:r>
            <a:r>
              <a:rPr sz="2550" b="1" i="1" dirty="0">
                <a:latin typeface="Arial"/>
                <a:cs typeface="Arial"/>
              </a:rPr>
              <a:t>with</a:t>
            </a:r>
            <a:r>
              <a:rPr sz="2550" b="1" i="1" spc="140" dirty="0">
                <a:latin typeface="Arial"/>
                <a:cs typeface="Arial"/>
              </a:rPr>
              <a:t> </a:t>
            </a:r>
            <a:r>
              <a:rPr sz="2550" b="1" i="1" dirty="0">
                <a:latin typeface="Arial"/>
                <a:cs typeface="Arial"/>
              </a:rPr>
              <a:t>system-</a:t>
            </a:r>
            <a:r>
              <a:rPr sz="2550" b="1" i="1" spc="-10" dirty="0">
                <a:latin typeface="Arial"/>
                <a:cs typeface="Arial"/>
              </a:rPr>
              <a:t>level </a:t>
            </a:r>
            <a:r>
              <a:rPr sz="2550" b="1" i="1" spc="110" dirty="0">
                <a:latin typeface="Arial"/>
                <a:cs typeface="Arial"/>
              </a:rPr>
              <a:t>programming</a:t>
            </a:r>
            <a:endParaRPr sz="2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2537" y="171184"/>
            <a:ext cx="300355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spc="-20" dirty="0"/>
              <a:t> </a:t>
            </a:r>
            <a:r>
              <a:rPr spc="-10" dirty="0"/>
              <a:t>Features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048747"/>
            <a:ext cx="9144000" cy="25400"/>
          </a:xfrm>
          <a:custGeom>
            <a:avLst/>
            <a:gdLst/>
            <a:ahLst/>
            <a:cxnLst/>
            <a:rect l="l" t="t" r="r" b="b"/>
            <a:pathLst>
              <a:path w="9144000" h="25400">
                <a:moveTo>
                  <a:pt x="9143999" y="25399"/>
                </a:moveTo>
                <a:lnTo>
                  <a:pt x="0" y="253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25399"/>
                </a:lnTo>
                <a:close/>
              </a:path>
            </a:pathLst>
          </a:custGeom>
          <a:solidFill>
            <a:srgbClr val="0060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08" y="6309320"/>
            <a:ext cx="2411759" cy="34669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>
              <a:lnSpc>
                <a:spcPts val="2880"/>
              </a:lnSpc>
              <a:spcBef>
                <a:spcPts val="240"/>
              </a:spcBef>
            </a:pPr>
            <a:r>
              <a:rPr spc="105" dirty="0"/>
              <a:t>Supports</a:t>
            </a:r>
            <a:r>
              <a:rPr spc="80" dirty="0"/>
              <a:t> </a:t>
            </a:r>
            <a:r>
              <a:rPr spc="100" dirty="0"/>
              <a:t>basic</a:t>
            </a:r>
            <a:r>
              <a:rPr spc="85" dirty="0"/>
              <a:t> </a:t>
            </a:r>
            <a:r>
              <a:rPr spc="114" dirty="0"/>
              <a:t>SQL</a:t>
            </a:r>
            <a:r>
              <a:rPr spc="80" dirty="0"/>
              <a:t> </a:t>
            </a:r>
            <a:r>
              <a:rPr dirty="0"/>
              <a:t>commands:</a:t>
            </a:r>
            <a:r>
              <a:rPr spc="90" dirty="0"/>
              <a:t> </a:t>
            </a:r>
            <a:r>
              <a:rPr spc="-40" dirty="0"/>
              <a:t>CREATE,</a:t>
            </a:r>
            <a:r>
              <a:rPr spc="80" dirty="0"/>
              <a:t> </a:t>
            </a:r>
            <a:r>
              <a:rPr spc="-10" dirty="0"/>
              <a:t>INSERT,</a:t>
            </a:r>
            <a:r>
              <a:rPr i="1" spc="-10" dirty="0"/>
              <a:t> SELECT.</a:t>
            </a:r>
          </a:p>
          <a:p>
            <a:pPr marL="12700" marR="1440815">
              <a:lnSpc>
                <a:spcPts val="5760"/>
              </a:lnSpc>
              <a:spcBef>
                <a:spcPts val="580"/>
              </a:spcBef>
            </a:pPr>
            <a:r>
              <a:rPr dirty="0"/>
              <a:t>File-</a:t>
            </a:r>
            <a:r>
              <a:rPr spc="125" dirty="0"/>
              <a:t>based</a:t>
            </a:r>
            <a:r>
              <a:rPr spc="75" dirty="0"/>
              <a:t> </a:t>
            </a:r>
            <a:r>
              <a:rPr spc="200" dirty="0"/>
              <a:t>data</a:t>
            </a:r>
            <a:r>
              <a:rPr spc="80" dirty="0"/>
              <a:t> </a:t>
            </a:r>
            <a:r>
              <a:rPr spc="110" dirty="0"/>
              <a:t>storage</a:t>
            </a:r>
            <a:r>
              <a:rPr spc="80" dirty="0"/>
              <a:t> </a:t>
            </a:r>
            <a:r>
              <a:rPr spc="110" dirty="0"/>
              <a:t>for</a:t>
            </a:r>
            <a:r>
              <a:rPr spc="80" dirty="0"/>
              <a:t> </a:t>
            </a:r>
            <a:r>
              <a:rPr spc="60" dirty="0"/>
              <a:t>persistence.</a:t>
            </a:r>
            <a:r>
              <a:rPr i="1" spc="60" dirty="0"/>
              <a:t> </a:t>
            </a:r>
            <a:r>
              <a:rPr i="1" spc="85" dirty="0"/>
              <a:t>Indexing</a:t>
            </a:r>
            <a:r>
              <a:rPr i="1" spc="-30" dirty="0"/>
              <a:t> </a:t>
            </a:r>
            <a:r>
              <a:rPr i="1" spc="130" dirty="0"/>
              <a:t>support</a:t>
            </a:r>
            <a:r>
              <a:rPr i="1" spc="-20" dirty="0"/>
              <a:t> </a:t>
            </a:r>
            <a:r>
              <a:rPr i="1" spc="65" dirty="0"/>
              <a:t>using</a:t>
            </a:r>
            <a:r>
              <a:rPr i="1" spc="-20" dirty="0"/>
              <a:t> </a:t>
            </a:r>
            <a:r>
              <a:rPr i="1" dirty="0"/>
              <a:t>B+</a:t>
            </a:r>
            <a:r>
              <a:rPr i="1" spc="-15" dirty="0"/>
              <a:t> </a:t>
            </a:r>
            <a:r>
              <a:rPr i="1" spc="-10" dirty="0"/>
              <a:t>Tree.</a:t>
            </a:r>
          </a:p>
          <a:p>
            <a:pPr marL="12700" marR="372745">
              <a:lnSpc>
                <a:spcPts val="5760"/>
              </a:lnSpc>
            </a:pPr>
            <a:r>
              <a:rPr spc="165" dirty="0"/>
              <a:t>Modular</a:t>
            </a:r>
            <a:r>
              <a:rPr spc="50" dirty="0"/>
              <a:t> </a:t>
            </a:r>
            <a:r>
              <a:rPr spc="185" dirty="0"/>
              <a:t>and</a:t>
            </a:r>
            <a:r>
              <a:rPr spc="50" dirty="0"/>
              <a:t> </a:t>
            </a:r>
            <a:r>
              <a:rPr spc="65" dirty="0"/>
              <a:t>extensible</a:t>
            </a:r>
            <a:r>
              <a:rPr spc="50" dirty="0"/>
              <a:t> </a:t>
            </a:r>
            <a:r>
              <a:rPr dirty="0"/>
              <a:t>system</a:t>
            </a:r>
            <a:r>
              <a:rPr spc="50" dirty="0"/>
              <a:t> </a:t>
            </a:r>
            <a:r>
              <a:rPr spc="90" dirty="0"/>
              <a:t>architecture.</a:t>
            </a:r>
            <a:r>
              <a:rPr i="1" spc="90" dirty="0"/>
              <a:t> </a:t>
            </a:r>
            <a:r>
              <a:rPr i="1" spc="60" dirty="0"/>
              <a:t>Simple</a:t>
            </a:r>
            <a:r>
              <a:rPr i="1" spc="40" dirty="0"/>
              <a:t> </a:t>
            </a:r>
            <a:r>
              <a:rPr i="1" spc="120" dirty="0"/>
              <a:t>command-</a:t>
            </a:r>
            <a:r>
              <a:rPr i="1" spc="80" dirty="0"/>
              <a:t>line</a:t>
            </a:r>
            <a:r>
              <a:rPr i="1" spc="40" dirty="0"/>
              <a:t> </a:t>
            </a:r>
            <a:r>
              <a:rPr i="1" spc="125" dirty="0"/>
              <a:t>interface</a:t>
            </a:r>
            <a:r>
              <a:rPr i="1" spc="40" dirty="0"/>
              <a:t> </a:t>
            </a:r>
            <a:r>
              <a:rPr i="1" spc="110" dirty="0"/>
              <a:t>for</a:t>
            </a:r>
            <a:r>
              <a:rPr i="1" spc="40" dirty="0"/>
              <a:t> </a:t>
            </a:r>
            <a:r>
              <a:rPr i="1" spc="85" dirty="0"/>
              <a:t>interaction.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2537" y="171184"/>
            <a:ext cx="589026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</a:t>
            </a:r>
            <a:r>
              <a:rPr spc="-135" dirty="0"/>
              <a:t> </a:t>
            </a:r>
            <a:r>
              <a:rPr dirty="0"/>
              <a:t>Usecases</a:t>
            </a:r>
            <a:r>
              <a:rPr spc="-135" dirty="0"/>
              <a:t> </a:t>
            </a:r>
            <a:r>
              <a:rPr dirty="0"/>
              <a:t>&amp;</a:t>
            </a:r>
            <a:r>
              <a:rPr spc="-135" dirty="0"/>
              <a:t> </a:t>
            </a:r>
            <a:r>
              <a:rPr spc="-10" dirty="0"/>
              <a:t>Scope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048747"/>
            <a:ext cx="9144000" cy="25400"/>
          </a:xfrm>
          <a:custGeom>
            <a:avLst/>
            <a:gdLst/>
            <a:ahLst/>
            <a:cxnLst/>
            <a:rect l="l" t="t" r="r" b="b"/>
            <a:pathLst>
              <a:path w="9144000" h="25400">
                <a:moveTo>
                  <a:pt x="9143999" y="25399"/>
                </a:moveTo>
                <a:lnTo>
                  <a:pt x="0" y="253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25399"/>
                </a:lnTo>
                <a:close/>
              </a:path>
            </a:pathLst>
          </a:custGeom>
          <a:solidFill>
            <a:srgbClr val="0060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08" y="6309320"/>
            <a:ext cx="2411759" cy="34669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52587" y="1020287"/>
            <a:ext cx="6650355" cy="517906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b="1" i="1" spc="95" dirty="0">
                <a:latin typeface="Arial"/>
                <a:cs typeface="Arial"/>
              </a:rPr>
              <a:t>Use</a:t>
            </a:r>
            <a:r>
              <a:rPr sz="1800" b="1" i="1" spc="35" dirty="0">
                <a:latin typeface="Arial"/>
                <a:cs typeface="Arial"/>
              </a:rPr>
              <a:t> </a:t>
            </a:r>
            <a:r>
              <a:rPr sz="1800" b="1" i="1" spc="-10" dirty="0">
                <a:latin typeface="Arial"/>
                <a:cs typeface="Arial"/>
              </a:rPr>
              <a:t>Cases:</a:t>
            </a:r>
            <a:endParaRPr sz="1800">
              <a:latin typeface="Arial"/>
              <a:cs typeface="Arial"/>
            </a:endParaRPr>
          </a:p>
          <a:p>
            <a:pPr marL="469265" indent="-366395">
              <a:lnSpc>
                <a:spcPct val="100000"/>
              </a:lnSpc>
              <a:spcBef>
                <a:spcPts val="1525"/>
              </a:spcBef>
              <a:buChar char="●"/>
              <a:tabLst>
                <a:tab pos="469265" algn="l"/>
              </a:tabLst>
            </a:pPr>
            <a:r>
              <a:rPr sz="1800" b="1" i="1" spc="85" dirty="0">
                <a:latin typeface="Arial"/>
                <a:cs typeface="Arial"/>
              </a:rPr>
              <a:t>Academic</a:t>
            </a:r>
            <a:r>
              <a:rPr sz="1800" b="1" i="1" spc="40" dirty="0">
                <a:latin typeface="Arial"/>
                <a:cs typeface="Arial"/>
              </a:rPr>
              <a:t> </a:t>
            </a:r>
            <a:r>
              <a:rPr sz="1800" b="1" i="1" spc="100" dirty="0">
                <a:latin typeface="Arial"/>
                <a:cs typeface="Arial"/>
              </a:rPr>
              <a:t>learning</a:t>
            </a:r>
            <a:r>
              <a:rPr sz="1800" b="1" i="1" spc="45" dirty="0">
                <a:latin typeface="Arial"/>
                <a:cs typeface="Arial"/>
              </a:rPr>
              <a:t> </a:t>
            </a:r>
            <a:r>
              <a:rPr sz="1800" b="1" i="1" spc="90" dirty="0">
                <a:latin typeface="Arial"/>
                <a:cs typeface="Arial"/>
              </a:rPr>
              <a:t>tool</a:t>
            </a:r>
            <a:r>
              <a:rPr sz="1800" b="1" i="1" spc="45" dirty="0">
                <a:latin typeface="Arial"/>
                <a:cs typeface="Arial"/>
              </a:rPr>
              <a:t> </a:t>
            </a:r>
            <a:r>
              <a:rPr sz="1800" b="1" i="1" spc="100" dirty="0">
                <a:latin typeface="Arial"/>
                <a:cs typeface="Arial"/>
              </a:rPr>
              <a:t>for</a:t>
            </a:r>
            <a:r>
              <a:rPr sz="1800" b="1" i="1" spc="45" dirty="0">
                <a:latin typeface="Arial"/>
                <a:cs typeface="Arial"/>
              </a:rPr>
              <a:t> </a:t>
            </a:r>
            <a:r>
              <a:rPr sz="1800" b="1" i="1" spc="90" dirty="0">
                <a:latin typeface="Arial"/>
                <a:cs typeface="Arial"/>
              </a:rPr>
              <a:t>DBMS</a:t>
            </a:r>
            <a:r>
              <a:rPr sz="1800" b="1" i="1" spc="45" dirty="0">
                <a:latin typeface="Arial"/>
                <a:cs typeface="Arial"/>
              </a:rPr>
              <a:t> </a:t>
            </a:r>
            <a:r>
              <a:rPr sz="1800" b="1" i="1" spc="60" dirty="0">
                <a:latin typeface="Arial"/>
                <a:cs typeface="Arial"/>
              </a:rPr>
              <a:t>concepts.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35"/>
              </a:spcBef>
              <a:buFont typeface="Arial"/>
              <a:buChar char="●"/>
            </a:pPr>
            <a:endParaRPr sz="1800">
              <a:latin typeface="Arial"/>
              <a:cs typeface="Arial"/>
            </a:endParaRPr>
          </a:p>
          <a:p>
            <a:pPr marL="469265" indent="-36639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sz="1800" b="1" i="1" spc="125" dirty="0">
                <a:latin typeface="Arial"/>
                <a:cs typeface="Arial"/>
              </a:rPr>
              <a:t>Understanding</a:t>
            </a:r>
            <a:r>
              <a:rPr sz="1800" b="1" i="1" spc="50" dirty="0">
                <a:latin typeface="Arial"/>
                <a:cs typeface="Arial"/>
              </a:rPr>
              <a:t> </a:t>
            </a:r>
            <a:r>
              <a:rPr sz="1800" b="1" i="1" spc="105" dirty="0">
                <a:latin typeface="Arial"/>
                <a:cs typeface="Arial"/>
              </a:rPr>
              <a:t>query</a:t>
            </a:r>
            <a:r>
              <a:rPr sz="1800" b="1" i="1" spc="55" dirty="0">
                <a:latin typeface="Arial"/>
                <a:cs typeface="Arial"/>
              </a:rPr>
              <a:t> </a:t>
            </a:r>
            <a:r>
              <a:rPr sz="1800" b="1" i="1" spc="65" dirty="0">
                <a:latin typeface="Arial"/>
                <a:cs typeface="Arial"/>
              </a:rPr>
              <a:t>execution</a:t>
            </a:r>
            <a:r>
              <a:rPr sz="1800" b="1" i="1" spc="50" dirty="0">
                <a:latin typeface="Arial"/>
                <a:cs typeface="Arial"/>
              </a:rPr>
              <a:t> </a:t>
            </a:r>
            <a:r>
              <a:rPr sz="1800" b="1" i="1" spc="-20" dirty="0">
                <a:latin typeface="Arial"/>
                <a:cs typeface="Arial"/>
              </a:rPr>
              <a:t>ﬂow.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40"/>
              </a:spcBef>
              <a:buFont typeface="Arial"/>
              <a:buChar char="●"/>
            </a:pPr>
            <a:endParaRPr sz="1800">
              <a:latin typeface="Arial"/>
              <a:cs typeface="Arial"/>
            </a:endParaRPr>
          </a:p>
          <a:p>
            <a:pPr marL="469265" indent="-36639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sz="1800" b="1" i="1" spc="95" dirty="0">
                <a:latin typeface="Arial"/>
                <a:cs typeface="Arial"/>
              </a:rPr>
              <a:t>Demonstration</a:t>
            </a:r>
            <a:r>
              <a:rPr sz="1800" b="1" i="1" spc="40" dirty="0">
                <a:latin typeface="Arial"/>
                <a:cs typeface="Arial"/>
              </a:rPr>
              <a:t> </a:t>
            </a:r>
            <a:r>
              <a:rPr sz="1800" b="1" i="1" spc="85" dirty="0">
                <a:latin typeface="Arial"/>
                <a:cs typeface="Arial"/>
              </a:rPr>
              <a:t>of</a:t>
            </a:r>
            <a:r>
              <a:rPr sz="1800" b="1" i="1" spc="45" dirty="0">
                <a:latin typeface="Arial"/>
                <a:cs typeface="Arial"/>
              </a:rPr>
              <a:t> </a:t>
            </a:r>
            <a:r>
              <a:rPr sz="1800" b="1" i="1" spc="80" dirty="0">
                <a:latin typeface="Arial"/>
                <a:cs typeface="Arial"/>
              </a:rPr>
              <a:t>indexing</a:t>
            </a:r>
            <a:r>
              <a:rPr sz="1800" b="1" i="1" spc="40" dirty="0">
                <a:latin typeface="Arial"/>
                <a:cs typeface="Arial"/>
              </a:rPr>
              <a:t> </a:t>
            </a:r>
            <a:r>
              <a:rPr sz="1800" b="1" i="1" spc="160" dirty="0">
                <a:latin typeface="Arial"/>
                <a:cs typeface="Arial"/>
              </a:rPr>
              <a:t>and</a:t>
            </a:r>
            <a:r>
              <a:rPr sz="1800" b="1" i="1" spc="45" dirty="0">
                <a:latin typeface="Arial"/>
                <a:cs typeface="Arial"/>
              </a:rPr>
              <a:t> </a:t>
            </a:r>
            <a:r>
              <a:rPr sz="1800" b="1" i="1" spc="100" dirty="0">
                <a:latin typeface="Arial"/>
                <a:cs typeface="Arial"/>
              </a:rPr>
              <a:t>storage</a:t>
            </a:r>
            <a:r>
              <a:rPr sz="1800" b="1" i="1" spc="40" dirty="0">
                <a:latin typeface="Arial"/>
                <a:cs typeface="Arial"/>
              </a:rPr>
              <a:t> </a:t>
            </a:r>
            <a:r>
              <a:rPr sz="1800" b="1" i="1" spc="65" dirty="0">
                <a:latin typeface="Arial"/>
                <a:cs typeface="Arial"/>
              </a:rPr>
              <a:t>techniques.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35"/>
              </a:spcBef>
              <a:buFont typeface="Arial"/>
              <a:buChar char="●"/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i="1" spc="-10" dirty="0">
                <a:latin typeface="Arial"/>
                <a:cs typeface="Arial"/>
              </a:rPr>
              <a:t>Scope:</a:t>
            </a:r>
            <a:endParaRPr sz="1800">
              <a:latin typeface="Arial"/>
              <a:cs typeface="Arial"/>
            </a:endParaRPr>
          </a:p>
          <a:p>
            <a:pPr marL="469265" indent="-366395">
              <a:lnSpc>
                <a:spcPct val="100000"/>
              </a:lnSpc>
              <a:spcBef>
                <a:spcPts val="1520"/>
              </a:spcBef>
              <a:buChar char="●"/>
              <a:tabLst>
                <a:tab pos="469265" algn="l"/>
              </a:tabLst>
            </a:pPr>
            <a:r>
              <a:rPr sz="1800" b="1" i="1" spc="65" dirty="0">
                <a:latin typeface="Arial"/>
                <a:cs typeface="Arial"/>
              </a:rPr>
              <a:t>Single-</a:t>
            </a:r>
            <a:r>
              <a:rPr sz="1800" b="1" i="1" spc="100" dirty="0">
                <a:latin typeface="Arial"/>
                <a:cs typeface="Arial"/>
              </a:rPr>
              <a:t>user</a:t>
            </a:r>
            <a:r>
              <a:rPr sz="1800" b="1" i="1" spc="60" dirty="0">
                <a:latin typeface="Arial"/>
                <a:cs typeface="Arial"/>
              </a:rPr>
              <a:t> </a:t>
            </a:r>
            <a:r>
              <a:rPr sz="1800" b="1" i="1" spc="-10" dirty="0">
                <a:latin typeface="Arial"/>
                <a:cs typeface="Arial"/>
              </a:rPr>
              <a:t>system.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40"/>
              </a:spcBef>
              <a:buFont typeface="Arial"/>
              <a:buChar char="●"/>
            </a:pPr>
            <a:endParaRPr sz="1800">
              <a:latin typeface="Arial"/>
              <a:cs typeface="Arial"/>
            </a:endParaRPr>
          </a:p>
          <a:p>
            <a:pPr marL="469265" indent="-36639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sz="1800" b="1" i="1" spc="105" dirty="0">
                <a:latin typeface="Arial"/>
                <a:cs typeface="Arial"/>
              </a:rPr>
              <a:t>Supports</a:t>
            </a:r>
            <a:r>
              <a:rPr sz="1800" b="1" i="1" spc="45" dirty="0">
                <a:latin typeface="Arial"/>
                <a:cs typeface="Arial"/>
              </a:rPr>
              <a:t> </a:t>
            </a:r>
            <a:r>
              <a:rPr sz="1800" b="1" i="1" spc="75" dirty="0">
                <a:latin typeface="Arial"/>
                <a:cs typeface="Arial"/>
              </a:rPr>
              <a:t>limited</a:t>
            </a:r>
            <a:r>
              <a:rPr sz="1800" b="1" i="1" spc="45" dirty="0">
                <a:latin typeface="Arial"/>
                <a:cs typeface="Arial"/>
              </a:rPr>
              <a:t> </a:t>
            </a:r>
            <a:r>
              <a:rPr sz="1800" b="1" i="1" spc="110" dirty="0">
                <a:latin typeface="Arial"/>
                <a:cs typeface="Arial"/>
              </a:rPr>
              <a:t>SQL</a:t>
            </a:r>
            <a:r>
              <a:rPr sz="1800" b="1" i="1" spc="45" dirty="0">
                <a:latin typeface="Arial"/>
                <a:cs typeface="Arial"/>
              </a:rPr>
              <a:t> </a:t>
            </a:r>
            <a:r>
              <a:rPr sz="1800" b="1" i="1" spc="-10" dirty="0">
                <a:latin typeface="Arial"/>
                <a:cs typeface="Arial"/>
              </a:rPr>
              <a:t>syntax.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35"/>
              </a:spcBef>
              <a:buFont typeface="Arial"/>
              <a:buChar char="●"/>
            </a:pPr>
            <a:endParaRPr sz="1800">
              <a:latin typeface="Arial"/>
              <a:cs typeface="Arial"/>
            </a:endParaRPr>
          </a:p>
          <a:p>
            <a:pPr marL="469265" indent="-366395">
              <a:lnSpc>
                <a:spcPct val="100000"/>
              </a:lnSpc>
              <a:spcBef>
                <a:spcPts val="5"/>
              </a:spcBef>
              <a:buChar char="●"/>
              <a:tabLst>
                <a:tab pos="469265" algn="l"/>
              </a:tabLst>
            </a:pPr>
            <a:r>
              <a:rPr sz="1800" b="1" i="1" spc="140" dirty="0">
                <a:latin typeface="Arial"/>
                <a:cs typeface="Arial"/>
              </a:rPr>
              <a:t>No</a:t>
            </a:r>
            <a:r>
              <a:rPr sz="1800" b="1" i="1" spc="40" dirty="0">
                <a:latin typeface="Arial"/>
                <a:cs typeface="Arial"/>
              </a:rPr>
              <a:t> </a:t>
            </a:r>
            <a:r>
              <a:rPr sz="1800" b="1" i="1" spc="110" dirty="0">
                <a:latin typeface="Arial"/>
                <a:cs typeface="Arial"/>
              </a:rPr>
              <a:t>transaction</a:t>
            </a:r>
            <a:r>
              <a:rPr sz="1800" b="1" i="1" spc="40" dirty="0">
                <a:latin typeface="Arial"/>
                <a:cs typeface="Arial"/>
              </a:rPr>
              <a:t> </a:t>
            </a:r>
            <a:r>
              <a:rPr sz="1800" b="1" i="1" spc="140" dirty="0">
                <a:latin typeface="Arial"/>
                <a:cs typeface="Arial"/>
              </a:rPr>
              <a:t>or</a:t>
            </a:r>
            <a:r>
              <a:rPr sz="1800" b="1" i="1" spc="40" dirty="0">
                <a:latin typeface="Arial"/>
                <a:cs typeface="Arial"/>
              </a:rPr>
              <a:t> </a:t>
            </a:r>
            <a:r>
              <a:rPr sz="1800" b="1" i="1" spc="95" dirty="0">
                <a:latin typeface="Arial"/>
                <a:cs typeface="Arial"/>
              </a:rPr>
              <a:t>concurrency</a:t>
            </a:r>
            <a:r>
              <a:rPr sz="1800" b="1" i="1" spc="40" dirty="0">
                <a:latin typeface="Arial"/>
                <a:cs typeface="Arial"/>
              </a:rPr>
              <a:t> </a:t>
            </a:r>
            <a:r>
              <a:rPr sz="1800" b="1" i="1" spc="80" dirty="0">
                <a:latin typeface="Arial"/>
                <a:cs typeface="Arial"/>
              </a:rPr>
              <a:t>support.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35"/>
              </a:spcBef>
              <a:buFont typeface="Arial"/>
              <a:buChar char="●"/>
            </a:pPr>
            <a:endParaRPr sz="1800">
              <a:latin typeface="Arial"/>
              <a:cs typeface="Arial"/>
            </a:endParaRPr>
          </a:p>
          <a:p>
            <a:pPr marL="469265" indent="-36639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sz="1800" b="1" i="1" spc="85" dirty="0">
                <a:latin typeface="Arial"/>
                <a:cs typeface="Arial"/>
              </a:rPr>
              <a:t>Designed</a:t>
            </a:r>
            <a:r>
              <a:rPr sz="1800" b="1" i="1" spc="40" dirty="0">
                <a:latin typeface="Arial"/>
                <a:cs typeface="Arial"/>
              </a:rPr>
              <a:t> </a:t>
            </a:r>
            <a:r>
              <a:rPr sz="1800" b="1" i="1" spc="100" dirty="0">
                <a:latin typeface="Arial"/>
                <a:cs typeface="Arial"/>
              </a:rPr>
              <a:t>for</a:t>
            </a:r>
            <a:r>
              <a:rPr sz="1800" b="1" i="1" spc="40" dirty="0">
                <a:latin typeface="Arial"/>
                <a:cs typeface="Arial"/>
              </a:rPr>
              <a:t> </a:t>
            </a:r>
            <a:r>
              <a:rPr sz="1800" b="1" i="1" spc="110" dirty="0">
                <a:latin typeface="Arial"/>
                <a:cs typeface="Arial"/>
              </a:rPr>
              <a:t>educational</a:t>
            </a:r>
            <a:r>
              <a:rPr sz="1800" b="1" i="1" spc="45" dirty="0">
                <a:latin typeface="Arial"/>
                <a:cs typeface="Arial"/>
              </a:rPr>
              <a:t> </a:t>
            </a:r>
            <a:r>
              <a:rPr sz="1800" b="1" i="1" spc="100" dirty="0">
                <a:latin typeface="Arial"/>
                <a:cs typeface="Arial"/>
              </a:rPr>
              <a:t>purposes</a:t>
            </a:r>
            <a:r>
              <a:rPr sz="1800" b="1" i="1" spc="40" dirty="0">
                <a:latin typeface="Arial"/>
                <a:cs typeface="Arial"/>
              </a:rPr>
              <a:t> </a:t>
            </a:r>
            <a:r>
              <a:rPr sz="1800" b="1" i="1" spc="-10" dirty="0">
                <a:latin typeface="Arial"/>
                <a:cs typeface="Arial"/>
              </a:rPr>
              <a:t>only.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9143998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76439" y="122397"/>
            <a:ext cx="618617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360" marR="508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Prototype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1048747"/>
            <a:ext cx="9144000" cy="25400"/>
          </a:xfrm>
          <a:custGeom>
            <a:avLst/>
            <a:gdLst/>
            <a:ahLst/>
            <a:cxnLst/>
            <a:rect l="l" t="t" r="r" b="b"/>
            <a:pathLst>
              <a:path w="9144000" h="25400">
                <a:moveTo>
                  <a:pt x="9143999" y="25399"/>
                </a:moveTo>
                <a:lnTo>
                  <a:pt x="0" y="253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25399"/>
                </a:lnTo>
                <a:close/>
              </a:path>
            </a:pathLst>
          </a:custGeom>
          <a:solidFill>
            <a:srgbClr val="0060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008" y="6309320"/>
            <a:ext cx="2411759" cy="3466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5AF90E-5D80-EC08-C674-749B5F64A4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23157"/>
            <a:ext cx="9144000" cy="51099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886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75" dirty="0"/>
              <a:t> </a:t>
            </a:r>
            <a:r>
              <a:rPr dirty="0"/>
              <a:t>&amp;</a:t>
            </a:r>
            <a:r>
              <a:rPr spc="-70" dirty="0"/>
              <a:t> </a:t>
            </a:r>
            <a:r>
              <a:rPr spc="-10" dirty="0"/>
              <a:t>Resources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048747"/>
            <a:ext cx="9144000" cy="25400"/>
          </a:xfrm>
          <a:custGeom>
            <a:avLst/>
            <a:gdLst/>
            <a:ahLst/>
            <a:cxnLst/>
            <a:rect l="l" t="t" r="r" b="b"/>
            <a:pathLst>
              <a:path w="9144000" h="25400">
                <a:moveTo>
                  <a:pt x="9143999" y="25399"/>
                </a:moveTo>
                <a:lnTo>
                  <a:pt x="0" y="253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25399"/>
                </a:lnTo>
                <a:close/>
              </a:path>
            </a:pathLst>
          </a:custGeom>
          <a:solidFill>
            <a:srgbClr val="0060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08" y="6309320"/>
            <a:ext cx="2411759" cy="34669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44438" y="1781506"/>
            <a:ext cx="7580362" cy="34612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93725" indent="-337820">
              <a:lnSpc>
                <a:spcPct val="100000"/>
              </a:lnSpc>
              <a:spcBef>
                <a:spcPts val="90"/>
              </a:spcBef>
              <a:buChar char="•"/>
              <a:tabLst>
                <a:tab pos="593725" algn="l"/>
              </a:tabLst>
            </a:pPr>
            <a:r>
              <a:rPr sz="2250" b="1" i="1" spc="200" dirty="0">
                <a:solidFill>
                  <a:srgbClr val="374151"/>
                </a:solidFill>
                <a:latin typeface="Arial"/>
                <a:cs typeface="Arial"/>
              </a:rPr>
              <a:t>Data</a:t>
            </a:r>
            <a:r>
              <a:rPr sz="2250" b="1" i="1" spc="25" dirty="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sz="2250" b="1" i="1" spc="180" dirty="0">
                <a:solidFill>
                  <a:srgbClr val="374151"/>
                </a:solidFill>
                <a:latin typeface="Arial"/>
                <a:cs typeface="Arial"/>
              </a:rPr>
              <a:t>stored</a:t>
            </a:r>
            <a:r>
              <a:rPr sz="2250" b="1" i="1" spc="25" dirty="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sz="2250" b="1" i="1" spc="190" dirty="0">
                <a:solidFill>
                  <a:srgbClr val="374151"/>
                </a:solidFill>
                <a:latin typeface="Arial"/>
                <a:cs typeface="Arial"/>
              </a:rPr>
              <a:t>in</a:t>
            </a:r>
            <a:r>
              <a:rPr sz="2250" b="1" i="1" spc="25" dirty="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sz="2250" b="1" i="1" spc="200" dirty="0">
                <a:solidFill>
                  <a:srgbClr val="374151"/>
                </a:solidFill>
                <a:latin typeface="Arial"/>
                <a:cs typeface="Arial"/>
              </a:rPr>
              <a:t>binary</a:t>
            </a:r>
            <a:r>
              <a:rPr sz="2250" b="1" i="1" spc="25" dirty="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sz="2250" b="1" i="1" spc="110" dirty="0">
                <a:solidFill>
                  <a:srgbClr val="374151"/>
                </a:solidFill>
                <a:latin typeface="Arial"/>
                <a:cs typeface="Arial"/>
              </a:rPr>
              <a:t>ﬁles</a:t>
            </a:r>
            <a:r>
              <a:rPr sz="2250" b="1" i="1" spc="30" dirty="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sz="2250" b="1" i="1" spc="235" dirty="0">
                <a:solidFill>
                  <a:srgbClr val="374151"/>
                </a:solidFill>
                <a:latin typeface="Arial"/>
                <a:cs typeface="Arial"/>
              </a:rPr>
              <a:t>on</a:t>
            </a:r>
            <a:r>
              <a:rPr sz="2250" b="1" i="1" spc="25" dirty="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sz="2250" b="1" i="1" spc="80" dirty="0">
                <a:solidFill>
                  <a:srgbClr val="374151"/>
                </a:solidFill>
                <a:latin typeface="Arial"/>
                <a:cs typeface="Arial"/>
              </a:rPr>
              <a:t>disk.</a:t>
            </a:r>
            <a:endParaRPr sz="2250" b="1" dirty="0">
              <a:latin typeface="Arial"/>
              <a:cs typeface="Arial"/>
            </a:endParaRPr>
          </a:p>
          <a:p>
            <a:pPr marL="593725" indent="-337820">
              <a:lnSpc>
                <a:spcPct val="100000"/>
              </a:lnSpc>
              <a:spcBef>
                <a:spcPts val="2580"/>
              </a:spcBef>
              <a:buChar char="•"/>
              <a:tabLst>
                <a:tab pos="593725" algn="l"/>
              </a:tabLst>
            </a:pPr>
            <a:r>
              <a:rPr sz="2250" b="1" i="1" spc="80" dirty="0">
                <a:solidFill>
                  <a:srgbClr val="374151"/>
                </a:solidFill>
                <a:latin typeface="Arial"/>
                <a:cs typeface="Arial"/>
              </a:rPr>
              <a:t>Tables</a:t>
            </a:r>
            <a:r>
              <a:rPr sz="2250" b="1" i="1" spc="20" dirty="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sz="2250" b="1" i="1" spc="180" dirty="0">
                <a:solidFill>
                  <a:srgbClr val="374151"/>
                </a:solidFill>
                <a:latin typeface="Arial"/>
                <a:cs typeface="Arial"/>
              </a:rPr>
              <a:t>stored</a:t>
            </a:r>
            <a:r>
              <a:rPr sz="2250" b="1" i="1" spc="25" dirty="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sz="2250" b="1" i="1" spc="140" dirty="0">
                <a:solidFill>
                  <a:srgbClr val="374151"/>
                </a:solidFill>
                <a:latin typeface="Arial"/>
                <a:cs typeface="Arial"/>
              </a:rPr>
              <a:t>as</a:t>
            </a:r>
            <a:r>
              <a:rPr sz="2250" b="1" i="1" spc="20" dirty="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sz="2250" b="1" i="1" spc="204" dirty="0">
                <a:solidFill>
                  <a:srgbClr val="374151"/>
                </a:solidFill>
                <a:latin typeface="Arial"/>
                <a:cs typeface="Arial"/>
              </a:rPr>
              <a:t>structured</a:t>
            </a:r>
            <a:r>
              <a:rPr sz="2250" b="1" i="1" spc="25" dirty="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sz="2250" b="1" i="1" spc="120" dirty="0">
                <a:solidFill>
                  <a:srgbClr val="374151"/>
                </a:solidFill>
                <a:latin typeface="Arial"/>
                <a:cs typeface="Arial"/>
              </a:rPr>
              <a:t>records.</a:t>
            </a:r>
            <a:endParaRPr sz="2250" b="1" dirty="0">
              <a:latin typeface="Arial"/>
              <a:cs typeface="Arial"/>
            </a:endParaRPr>
          </a:p>
          <a:p>
            <a:pPr marL="593725" indent="-337820">
              <a:lnSpc>
                <a:spcPct val="100000"/>
              </a:lnSpc>
              <a:spcBef>
                <a:spcPts val="2580"/>
              </a:spcBef>
              <a:buChar char="•"/>
              <a:tabLst>
                <a:tab pos="593725" algn="l"/>
              </a:tabLst>
            </a:pPr>
            <a:r>
              <a:rPr sz="2250" b="1" i="1" spc="130" dirty="0">
                <a:solidFill>
                  <a:srgbClr val="374151"/>
                </a:solidFill>
                <a:latin typeface="Arial"/>
                <a:cs typeface="Arial"/>
              </a:rPr>
              <a:t>Index</a:t>
            </a:r>
            <a:r>
              <a:rPr sz="2250" b="1" i="1" spc="25" dirty="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sz="2250" b="1" i="1" spc="110" dirty="0">
                <a:solidFill>
                  <a:srgbClr val="374151"/>
                </a:solidFill>
                <a:latin typeface="Arial"/>
                <a:cs typeface="Arial"/>
              </a:rPr>
              <a:t>ﬁles</a:t>
            </a:r>
            <a:r>
              <a:rPr sz="2250" b="1" i="1" spc="30" dirty="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sz="2250" b="1" i="1" spc="200" dirty="0">
                <a:solidFill>
                  <a:srgbClr val="374151"/>
                </a:solidFill>
                <a:latin typeface="Arial"/>
                <a:cs typeface="Arial"/>
              </a:rPr>
              <a:t>maintained</a:t>
            </a:r>
            <a:r>
              <a:rPr sz="2250" b="1" i="1" spc="25" dirty="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sz="2250" b="1" i="1" spc="125" dirty="0">
                <a:solidFill>
                  <a:srgbClr val="374151"/>
                </a:solidFill>
                <a:latin typeface="Arial"/>
                <a:cs typeface="Arial"/>
              </a:rPr>
              <a:t>separately.</a:t>
            </a:r>
            <a:endParaRPr sz="2250" b="1" dirty="0">
              <a:latin typeface="Arial"/>
              <a:cs typeface="Arial"/>
            </a:endParaRPr>
          </a:p>
          <a:p>
            <a:pPr marL="593725" indent="-337820">
              <a:lnSpc>
                <a:spcPct val="100000"/>
              </a:lnSpc>
              <a:spcBef>
                <a:spcPts val="2580"/>
              </a:spcBef>
              <a:buChar char="•"/>
              <a:tabLst>
                <a:tab pos="593725" algn="l"/>
              </a:tabLst>
            </a:pPr>
            <a:r>
              <a:rPr sz="2250" b="1" i="1" spc="215" dirty="0">
                <a:solidFill>
                  <a:srgbClr val="374151"/>
                </a:solidFill>
                <a:latin typeface="Arial"/>
                <a:cs typeface="Arial"/>
              </a:rPr>
              <a:t>No</a:t>
            </a:r>
            <a:r>
              <a:rPr sz="2250" b="1" i="1" spc="30" dirty="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sz="2250" b="1" i="1" spc="160" dirty="0">
                <a:solidFill>
                  <a:srgbClr val="374151"/>
                </a:solidFill>
                <a:latin typeface="Arial"/>
                <a:cs typeface="Arial"/>
              </a:rPr>
              <a:t>external</a:t>
            </a:r>
            <a:r>
              <a:rPr sz="2250" b="1" i="1" spc="35" dirty="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sz="2250" b="1" i="1" spc="204" dirty="0">
                <a:solidFill>
                  <a:srgbClr val="374151"/>
                </a:solidFill>
                <a:latin typeface="Arial"/>
                <a:cs typeface="Arial"/>
              </a:rPr>
              <a:t>database</a:t>
            </a:r>
            <a:r>
              <a:rPr sz="2250" b="1" i="1" spc="35" dirty="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sz="2250" b="1" i="1" spc="150" dirty="0">
                <a:solidFill>
                  <a:srgbClr val="374151"/>
                </a:solidFill>
                <a:latin typeface="Arial"/>
                <a:cs typeface="Arial"/>
              </a:rPr>
              <a:t>dependency.</a:t>
            </a:r>
            <a:endParaRPr sz="2250" b="1" dirty="0">
              <a:latin typeface="Arial"/>
              <a:cs typeface="Arial"/>
            </a:endParaRPr>
          </a:p>
          <a:p>
            <a:pPr marL="593725" indent="-337820">
              <a:lnSpc>
                <a:spcPts val="2665"/>
              </a:lnSpc>
              <a:spcBef>
                <a:spcPts val="2580"/>
              </a:spcBef>
              <a:buChar char="•"/>
              <a:tabLst>
                <a:tab pos="593725" algn="l"/>
              </a:tabLst>
            </a:pPr>
            <a:r>
              <a:rPr sz="2250" b="1" i="1" spc="100" dirty="0">
                <a:solidFill>
                  <a:srgbClr val="374151"/>
                </a:solidFill>
                <a:latin typeface="Arial"/>
                <a:cs typeface="Arial"/>
              </a:rPr>
              <a:t>Uses</a:t>
            </a:r>
            <a:r>
              <a:rPr sz="2250" b="1" i="1" spc="25" dirty="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sz="2250" b="1" i="1" spc="165" dirty="0">
                <a:solidFill>
                  <a:srgbClr val="374151"/>
                </a:solidFill>
                <a:latin typeface="Arial"/>
                <a:cs typeface="Arial"/>
              </a:rPr>
              <a:t>local</a:t>
            </a:r>
            <a:r>
              <a:rPr sz="2250" b="1" i="1" spc="30" dirty="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sz="2250" b="1" i="1" spc="125" dirty="0">
                <a:solidFill>
                  <a:srgbClr val="374151"/>
                </a:solidFill>
                <a:latin typeface="Arial"/>
                <a:cs typeface="Arial"/>
              </a:rPr>
              <a:t>ﬁle</a:t>
            </a:r>
            <a:r>
              <a:rPr sz="2250" b="1" i="1" spc="25" dirty="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sz="2250" b="1" i="1" spc="114" dirty="0">
                <a:solidFill>
                  <a:srgbClr val="374151"/>
                </a:solidFill>
                <a:latin typeface="Arial"/>
                <a:cs typeface="Arial"/>
              </a:rPr>
              <a:t>system</a:t>
            </a:r>
            <a:r>
              <a:rPr sz="2250" b="1" i="1" spc="30" dirty="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sz="2250" b="1" i="1" spc="210" dirty="0">
                <a:solidFill>
                  <a:srgbClr val="374151"/>
                </a:solidFill>
                <a:latin typeface="Arial"/>
                <a:cs typeface="Arial"/>
              </a:rPr>
              <a:t>for</a:t>
            </a:r>
            <a:r>
              <a:rPr sz="2250" b="1" i="1" spc="25" dirty="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sz="2250" b="1" i="1" spc="135" dirty="0">
                <a:solidFill>
                  <a:srgbClr val="374151"/>
                </a:solidFill>
                <a:latin typeface="Arial"/>
                <a:cs typeface="Arial"/>
              </a:rPr>
              <a:t>storage.</a:t>
            </a:r>
            <a:endParaRPr sz="2250" b="1" dirty="0">
              <a:latin typeface="Arial"/>
              <a:cs typeface="Arial"/>
            </a:endParaRPr>
          </a:p>
          <a:p>
            <a:pPr marL="12700">
              <a:lnSpc>
                <a:spcPts val="3025"/>
              </a:lnSpc>
            </a:pPr>
            <a:endParaRPr sz="2550" b="1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047" y="0"/>
            <a:ext cx="9099952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886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Methodology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1048747"/>
            <a:ext cx="9144000" cy="5607685"/>
            <a:chOff x="0" y="1048747"/>
            <a:chExt cx="9144000" cy="5607685"/>
          </a:xfrm>
        </p:grpSpPr>
        <p:sp>
          <p:nvSpPr>
            <p:cNvPr id="5" name="object 5"/>
            <p:cNvSpPr/>
            <p:nvPr/>
          </p:nvSpPr>
          <p:spPr>
            <a:xfrm>
              <a:off x="0" y="1048747"/>
              <a:ext cx="9144000" cy="25400"/>
            </a:xfrm>
            <a:custGeom>
              <a:avLst/>
              <a:gdLst/>
              <a:ahLst/>
              <a:cxnLst/>
              <a:rect l="l" t="t" r="r" b="b"/>
              <a:pathLst>
                <a:path w="9144000" h="25400">
                  <a:moveTo>
                    <a:pt x="9143999" y="25399"/>
                  </a:moveTo>
                  <a:lnTo>
                    <a:pt x="0" y="253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25399"/>
                  </a:lnTo>
                  <a:close/>
                </a:path>
              </a:pathLst>
            </a:custGeom>
            <a:solidFill>
              <a:srgbClr val="006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008" y="6309320"/>
              <a:ext cx="2411759" cy="34669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62626" y="1315314"/>
            <a:ext cx="7049134" cy="34296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93725" indent="-337820">
              <a:lnSpc>
                <a:spcPct val="100000"/>
              </a:lnSpc>
              <a:spcBef>
                <a:spcPts val="90"/>
              </a:spcBef>
              <a:buChar char="•"/>
              <a:tabLst>
                <a:tab pos="593725" algn="l"/>
              </a:tabLst>
            </a:pPr>
            <a:r>
              <a:rPr sz="2250" b="1" i="1" spc="70" dirty="0">
                <a:solidFill>
                  <a:srgbClr val="374151"/>
                </a:solidFill>
                <a:latin typeface="Arial"/>
                <a:cs typeface="Arial"/>
              </a:rPr>
              <a:t>Requirement</a:t>
            </a:r>
            <a:r>
              <a:rPr sz="2250" b="1" i="1" spc="25" dirty="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sz="2250" b="1" i="1" spc="55" dirty="0">
                <a:solidFill>
                  <a:srgbClr val="374151"/>
                </a:solidFill>
                <a:latin typeface="Arial"/>
                <a:cs typeface="Arial"/>
              </a:rPr>
              <a:t>analysis</a:t>
            </a:r>
            <a:r>
              <a:rPr sz="2250" b="1" i="1" spc="30" dirty="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sz="2250" b="1" i="1" spc="70" dirty="0">
                <a:solidFill>
                  <a:srgbClr val="374151"/>
                </a:solidFill>
                <a:latin typeface="Arial"/>
                <a:cs typeface="Arial"/>
              </a:rPr>
              <a:t>of</a:t>
            </a:r>
            <a:r>
              <a:rPr sz="2250" b="1" i="1" spc="25" dirty="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sz="2250" b="1" i="1" spc="80" dirty="0">
                <a:solidFill>
                  <a:srgbClr val="374151"/>
                </a:solidFill>
                <a:latin typeface="Arial"/>
                <a:cs typeface="Arial"/>
              </a:rPr>
              <a:t>DBMS</a:t>
            </a:r>
            <a:r>
              <a:rPr sz="2250" b="1" i="1" spc="30" dirty="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sz="2250" b="1" i="1" spc="65" dirty="0">
                <a:solidFill>
                  <a:srgbClr val="374151"/>
                </a:solidFill>
                <a:latin typeface="Arial"/>
                <a:cs typeface="Arial"/>
              </a:rPr>
              <a:t>components.</a:t>
            </a:r>
            <a:endParaRPr sz="2250" b="1" dirty="0">
              <a:latin typeface="Arial"/>
              <a:cs typeface="Arial"/>
            </a:endParaRPr>
          </a:p>
          <a:p>
            <a:pPr marL="593725" indent="-337820">
              <a:lnSpc>
                <a:spcPct val="100000"/>
              </a:lnSpc>
              <a:spcBef>
                <a:spcPts val="2580"/>
              </a:spcBef>
              <a:buChar char="•"/>
              <a:tabLst>
                <a:tab pos="593725" algn="l"/>
              </a:tabLst>
            </a:pPr>
            <a:r>
              <a:rPr sz="2250" b="1" i="1" spc="60" dirty="0">
                <a:solidFill>
                  <a:srgbClr val="374151"/>
                </a:solidFill>
                <a:latin typeface="Arial"/>
                <a:cs typeface="Arial"/>
              </a:rPr>
              <a:t>Design</a:t>
            </a:r>
            <a:r>
              <a:rPr sz="2250" b="1" i="1" spc="30" dirty="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sz="2250" b="1" i="1" spc="70" dirty="0">
                <a:solidFill>
                  <a:srgbClr val="374151"/>
                </a:solidFill>
                <a:latin typeface="Arial"/>
                <a:cs typeface="Arial"/>
              </a:rPr>
              <a:t>of</a:t>
            </a:r>
            <a:r>
              <a:rPr sz="2250" b="1" i="1" spc="30" dirty="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sz="2250" b="1" i="1" spc="114" dirty="0">
                <a:solidFill>
                  <a:srgbClr val="374151"/>
                </a:solidFill>
                <a:latin typeface="Arial"/>
                <a:cs typeface="Arial"/>
              </a:rPr>
              <a:t>modular</a:t>
            </a:r>
            <a:r>
              <a:rPr sz="2250" b="1" i="1" spc="30" dirty="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sz="2250" b="1" i="1" spc="80" dirty="0">
                <a:solidFill>
                  <a:srgbClr val="374151"/>
                </a:solidFill>
                <a:latin typeface="Arial"/>
                <a:cs typeface="Arial"/>
              </a:rPr>
              <a:t>architecture.</a:t>
            </a:r>
            <a:endParaRPr sz="2250" b="1" dirty="0">
              <a:latin typeface="Arial"/>
              <a:cs typeface="Arial"/>
            </a:endParaRPr>
          </a:p>
          <a:p>
            <a:pPr marL="593725" indent="-337820">
              <a:lnSpc>
                <a:spcPct val="100000"/>
              </a:lnSpc>
              <a:spcBef>
                <a:spcPts val="2580"/>
              </a:spcBef>
              <a:buChar char="•"/>
              <a:tabLst>
                <a:tab pos="593725" algn="l"/>
              </a:tabLst>
            </a:pPr>
            <a:r>
              <a:rPr sz="2250" b="1" i="1" spc="90" dirty="0">
                <a:solidFill>
                  <a:srgbClr val="374151"/>
                </a:solidFill>
                <a:latin typeface="Arial"/>
                <a:cs typeface="Arial"/>
              </a:rPr>
              <a:t>Implementation</a:t>
            </a:r>
            <a:r>
              <a:rPr sz="2250" b="1" i="1" spc="40" dirty="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sz="2250" b="1" i="1" spc="70" dirty="0">
                <a:solidFill>
                  <a:srgbClr val="374151"/>
                </a:solidFill>
                <a:latin typeface="Arial"/>
                <a:cs typeface="Arial"/>
              </a:rPr>
              <a:t>of</a:t>
            </a:r>
            <a:r>
              <a:rPr sz="2250" b="1" i="1" spc="40" dirty="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sz="2250" b="1" i="1" spc="80" dirty="0">
                <a:solidFill>
                  <a:srgbClr val="374151"/>
                </a:solidFill>
                <a:latin typeface="Arial"/>
                <a:cs typeface="Arial"/>
              </a:rPr>
              <a:t>individual</a:t>
            </a:r>
            <a:r>
              <a:rPr sz="2250" b="1" i="1" spc="40" dirty="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sz="2250" b="1" i="1" spc="-10" dirty="0">
                <a:solidFill>
                  <a:srgbClr val="374151"/>
                </a:solidFill>
                <a:latin typeface="Arial"/>
                <a:cs typeface="Arial"/>
              </a:rPr>
              <a:t>modules.</a:t>
            </a:r>
            <a:endParaRPr sz="2250" b="1" dirty="0">
              <a:latin typeface="Arial"/>
              <a:cs typeface="Arial"/>
            </a:endParaRPr>
          </a:p>
          <a:p>
            <a:pPr marL="593725" indent="-337820">
              <a:lnSpc>
                <a:spcPct val="100000"/>
              </a:lnSpc>
              <a:spcBef>
                <a:spcPts val="2580"/>
              </a:spcBef>
              <a:buChar char="•"/>
              <a:tabLst>
                <a:tab pos="593725" algn="l"/>
              </a:tabLst>
            </a:pPr>
            <a:r>
              <a:rPr sz="2250" b="1" i="1" spc="130" dirty="0">
                <a:solidFill>
                  <a:srgbClr val="374151"/>
                </a:solidFill>
                <a:latin typeface="Arial"/>
                <a:cs typeface="Arial"/>
              </a:rPr>
              <a:t>Unit</a:t>
            </a:r>
            <a:r>
              <a:rPr sz="2250" b="1" i="1" spc="25" dirty="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sz="2250" b="1" i="1" spc="80" dirty="0">
                <a:solidFill>
                  <a:srgbClr val="374151"/>
                </a:solidFill>
                <a:latin typeface="Arial"/>
                <a:cs typeface="Arial"/>
              </a:rPr>
              <a:t>testing</a:t>
            </a:r>
            <a:r>
              <a:rPr sz="2250" b="1" i="1" spc="30" dirty="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sz="2250" b="1" i="1" spc="70" dirty="0">
                <a:solidFill>
                  <a:srgbClr val="374151"/>
                </a:solidFill>
                <a:latin typeface="Arial"/>
                <a:cs typeface="Arial"/>
              </a:rPr>
              <a:t>of</a:t>
            </a:r>
            <a:r>
              <a:rPr sz="2250" b="1" i="1" spc="30" dirty="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sz="2250" b="1" i="1" spc="120" dirty="0">
                <a:solidFill>
                  <a:srgbClr val="374151"/>
                </a:solidFill>
                <a:latin typeface="Arial"/>
                <a:cs typeface="Arial"/>
              </a:rPr>
              <a:t>each</a:t>
            </a:r>
            <a:r>
              <a:rPr sz="2250" b="1" i="1" spc="30" dirty="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sz="2250" b="1" i="1" spc="75" dirty="0">
                <a:solidFill>
                  <a:srgbClr val="374151"/>
                </a:solidFill>
                <a:latin typeface="Arial"/>
                <a:cs typeface="Arial"/>
              </a:rPr>
              <a:t>component.</a:t>
            </a:r>
            <a:endParaRPr sz="2250" b="1" dirty="0">
              <a:latin typeface="Arial"/>
              <a:cs typeface="Arial"/>
            </a:endParaRPr>
          </a:p>
          <a:p>
            <a:pPr marL="593725" indent="-337820">
              <a:lnSpc>
                <a:spcPts val="2665"/>
              </a:lnSpc>
              <a:spcBef>
                <a:spcPts val="2580"/>
              </a:spcBef>
              <a:buChar char="•"/>
              <a:tabLst>
                <a:tab pos="593725" algn="l"/>
              </a:tabLst>
            </a:pPr>
            <a:r>
              <a:rPr sz="2250" b="1" i="1" spc="100" dirty="0">
                <a:solidFill>
                  <a:srgbClr val="374151"/>
                </a:solidFill>
                <a:latin typeface="Arial"/>
                <a:cs typeface="Arial"/>
              </a:rPr>
              <a:t>Integration</a:t>
            </a:r>
            <a:r>
              <a:rPr sz="2250" b="1" i="1" spc="60" dirty="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sz="2250" b="1" i="1" spc="170" dirty="0">
                <a:solidFill>
                  <a:srgbClr val="374151"/>
                </a:solidFill>
                <a:latin typeface="Arial"/>
                <a:cs typeface="Arial"/>
              </a:rPr>
              <a:t>and</a:t>
            </a:r>
            <a:r>
              <a:rPr sz="2250" b="1" i="1" spc="60" dirty="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sz="2250" b="1" i="1" dirty="0">
                <a:solidFill>
                  <a:srgbClr val="374151"/>
                </a:solidFill>
                <a:latin typeface="Arial"/>
                <a:cs typeface="Arial"/>
              </a:rPr>
              <a:t>system</a:t>
            </a:r>
            <a:r>
              <a:rPr sz="2250" b="1" i="1" spc="60" dirty="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sz="2250" b="1" i="1" spc="50" dirty="0">
                <a:solidFill>
                  <a:srgbClr val="374151"/>
                </a:solidFill>
                <a:latin typeface="Arial"/>
                <a:cs typeface="Arial"/>
              </a:rPr>
              <a:t>testing.</a:t>
            </a:r>
            <a:endParaRPr sz="2250" b="1" dirty="0">
              <a:latin typeface="Arial"/>
              <a:cs typeface="Arial"/>
            </a:endParaRPr>
          </a:p>
          <a:p>
            <a:pPr marL="12700">
              <a:lnSpc>
                <a:spcPts val="3025"/>
              </a:lnSpc>
            </a:pPr>
            <a:endParaRPr sz="2550" b="1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886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Expected</a:t>
            </a:r>
            <a:r>
              <a:rPr spc="-135" dirty="0"/>
              <a:t> </a:t>
            </a:r>
            <a:r>
              <a:rPr dirty="0"/>
              <a:t>Results</a:t>
            </a:r>
            <a:r>
              <a:rPr spc="-135" dirty="0"/>
              <a:t> </a:t>
            </a:r>
            <a:r>
              <a:rPr dirty="0"/>
              <a:t>&amp;</a:t>
            </a:r>
            <a:r>
              <a:rPr spc="-135" dirty="0"/>
              <a:t> </a:t>
            </a:r>
            <a:r>
              <a:rPr spc="-10" dirty="0"/>
              <a:t>Impact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048747"/>
            <a:ext cx="9144000" cy="25400"/>
          </a:xfrm>
          <a:custGeom>
            <a:avLst/>
            <a:gdLst/>
            <a:ahLst/>
            <a:cxnLst/>
            <a:rect l="l" t="t" r="r" b="b"/>
            <a:pathLst>
              <a:path w="9144000" h="25400">
                <a:moveTo>
                  <a:pt x="9143999" y="25399"/>
                </a:moveTo>
                <a:lnTo>
                  <a:pt x="0" y="253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25399"/>
                </a:lnTo>
                <a:close/>
              </a:path>
            </a:pathLst>
          </a:custGeom>
          <a:solidFill>
            <a:srgbClr val="0060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08" y="6309320"/>
            <a:ext cx="2411759" cy="34669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45025" y="1295465"/>
            <a:ext cx="7438390" cy="30499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50" b="1" i="1" spc="90" dirty="0">
                <a:latin typeface="Arial"/>
                <a:cs typeface="Arial"/>
              </a:rPr>
              <a:t>Functional</a:t>
            </a:r>
            <a:r>
              <a:rPr sz="2250" b="1" i="1" spc="20" dirty="0">
                <a:latin typeface="Arial"/>
                <a:cs typeface="Arial"/>
              </a:rPr>
              <a:t> </a:t>
            </a:r>
            <a:r>
              <a:rPr sz="2250" b="1" i="1" spc="55" dirty="0">
                <a:latin typeface="Arial"/>
                <a:cs typeface="Arial"/>
              </a:rPr>
              <a:t>mini</a:t>
            </a:r>
            <a:r>
              <a:rPr sz="2250" b="1" i="1" spc="25" dirty="0">
                <a:latin typeface="Arial"/>
                <a:cs typeface="Arial"/>
              </a:rPr>
              <a:t> </a:t>
            </a:r>
            <a:r>
              <a:rPr sz="2250" b="1" i="1" spc="105" dirty="0">
                <a:latin typeface="Arial"/>
                <a:cs typeface="Arial"/>
              </a:rPr>
              <a:t>relational</a:t>
            </a:r>
            <a:r>
              <a:rPr sz="2250" b="1" i="1" spc="25" dirty="0">
                <a:latin typeface="Arial"/>
                <a:cs typeface="Arial"/>
              </a:rPr>
              <a:t> </a:t>
            </a:r>
            <a:r>
              <a:rPr sz="2250" b="1" i="1" spc="145" dirty="0">
                <a:latin typeface="Arial"/>
                <a:cs typeface="Arial"/>
              </a:rPr>
              <a:t>database</a:t>
            </a:r>
            <a:r>
              <a:rPr sz="2250" b="1" i="1" spc="20" dirty="0">
                <a:latin typeface="Arial"/>
                <a:cs typeface="Arial"/>
              </a:rPr>
              <a:t> </a:t>
            </a:r>
            <a:r>
              <a:rPr sz="2250" b="1" i="1" spc="55" dirty="0">
                <a:latin typeface="Arial"/>
                <a:cs typeface="Arial"/>
              </a:rPr>
              <a:t>engine.</a:t>
            </a:r>
            <a:endParaRPr sz="2250" dirty="0">
              <a:latin typeface="Arial"/>
              <a:cs typeface="Arial"/>
            </a:endParaRPr>
          </a:p>
          <a:p>
            <a:pPr marL="12700" marR="1272540">
              <a:lnSpc>
                <a:spcPts val="5280"/>
              </a:lnSpc>
              <a:spcBef>
                <a:spcPts val="610"/>
              </a:spcBef>
            </a:pPr>
            <a:r>
              <a:rPr sz="2250" b="1" i="1" spc="90" dirty="0">
                <a:latin typeface="Arial"/>
                <a:cs typeface="Arial"/>
              </a:rPr>
              <a:t>Correct</a:t>
            </a:r>
            <a:r>
              <a:rPr sz="2250" b="1" i="1" spc="25" dirty="0">
                <a:latin typeface="Arial"/>
                <a:cs typeface="Arial"/>
              </a:rPr>
              <a:t> </a:t>
            </a:r>
            <a:r>
              <a:rPr sz="2250" b="1" i="1" spc="55" dirty="0">
                <a:latin typeface="Arial"/>
                <a:cs typeface="Arial"/>
              </a:rPr>
              <a:t>execution</a:t>
            </a:r>
            <a:r>
              <a:rPr sz="2250" b="1" i="1" spc="25" dirty="0">
                <a:latin typeface="Arial"/>
                <a:cs typeface="Arial"/>
              </a:rPr>
              <a:t> </a:t>
            </a:r>
            <a:r>
              <a:rPr sz="2250" b="1" i="1" spc="70" dirty="0">
                <a:latin typeface="Arial"/>
                <a:cs typeface="Arial"/>
              </a:rPr>
              <a:t>of</a:t>
            </a:r>
            <a:r>
              <a:rPr sz="2250" b="1" i="1" spc="25" dirty="0">
                <a:latin typeface="Arial"/>
                <a:cs typeface="Arial"/>
              </a:rPr>
              <a:t> </a:t>
            </a:r>
            <a:r>
              <a:rPr sz="2250" b="1" i="1" spc="90" dirty="0">
                <a:latin typeface="Arial"/>
                <a:cs typeface="Arial"/>
              </a:rPr>
              <a:t>basic</a:t>
            </a:r>
            <a:r>
              <a:rPr sz="2250" b="1" i="1" spc="25" dirty="0">
                <a:latin typeface="Arial"/>
                <a:cs typeface="Arial"/>
              </a:rPr>
              <a:t> </a:t>
            </a:r>
            <a:r>
              <a:rPr sz="2250" b="1" i="1" spc="105" dirty="0">
                <a:latin typeface="Arial"/>
                <a:cs typeface="Arial"/>
              </a:rPr>
              <a:t>SQL</a:t>
            </a:r>
            <a:r>
              <a:rPr sz="2250" b="1" i="1" spc="30" dirty="0">
                <a:latin typeface="Arial"/>
                <a:cs typeface="Arial"/>
              </a:rPr>
              <a:t> </a:t>
            </a:r>
            <a:r>
              <a:rPr sz="2250" b="1" i="1" spc="65" dirty="0">
                <a:latin typeface="Arial"/>
                <a:cs typeface="Arial"/>
              </a:rPr>
              <a:t>queries. </a:t>
            </a:r>
            <a:r>
              <a:rPr sz="2250" b="1" i="1" spc="105" dirty="0">
                <a:latin typeface="Arial"/>
                <a:cs typeface="Arial"/>
              </a:rPr>
              <a:t>Clear</a:t>
            </a:r>
            <a:r>
              <a:rPr sz="2250" b="1" i="1" spc="20" dirty="0">
                <a:latin typeface="Arial"/>
                <a:cs typeface="Arial"/>
              </a:rPr>
              <a:t> </a:t>
            </a:r>
            <a:r>
              <a:rPr sz="2250" b="1" i="1" spc="120" dirty="0">
                <a:latin typeface="Arial"/>
                <a:cs typeface="Arial"/>
              </a:rPr>
              <a:t>understanding</a:t>
            </a:r>
            <a:r>
              <a:rPr sz="2250" b="1" i="1" spc="25" dirty="0">
                <a:latin typeface="Arial"/>
                <a:cs typeface="Arial"/>
              </a:rPr>
              <a:t> </a:t>
            </a:r>
            <a:r>
              <a:rPr sz="2250" b="1" i="1" spc="70" dirty="0">
                <a:latin typeface="Arial"/>
                <a:cs typeface="Arial"/>
              </a:rPr>
              <a:t>of</a:t>
            </a:r>
            <a:r>
              <a:rPr sz="2250" b="1" i="1" spc="20" dirty="0">
                <a:latin typeface="Arial"/>
                <a:cs typeface="Arial"/>
              </a:rPr>
              <a:t> </a:t>
            </a:r>
            <a:r>
              <a:rPr sz="2250" b="1" i="1" spc="80" dirty="0">
                <a:latin typeface="Arial"/>
                <a:cs typeface="Arial"/>
              </a:rPr>
              <a:t>DBMS</a:t>
            </a:r>
            <a:r>
              <a:rPr sz="2250" b="1" i="1" spc="25" dirty="0">
                <a:latin typeface="Arial"/>
                <a:cs typeface="Arial"/>
              </a:rPr>
              <a:t> </a:t>
            </a:r>
            <a:r>
              <a:rPr sz="2250" b="1" i="1" spc="70" dirty="0">
                <a:latin typeface="Arial"/>
                <a:cs typeface="Arial"/>
              </a:rPr>
              <a:t>internals. </a:t>
            </a:r>
            <a:r>
              <a:rPr sz="2250" b="1" i="1" spc="65" dirty="0">
                <a:latin typeface="Arial"/>
                <a:cs typeface="Arial"/>
              </a:rPr>
              <a:t>Improved</a:t>
            </a:r>
            <a:r>
              <a:rPr sz="2250" b="1" i="1" spc="125" dirty="0">
                <a:latin typeface="Arial"/>
                <a:cs typeface="Arial"/>
              </a:rPr>
              <a:t> </a:t>
            </a:r>
            <a:r>
              <a:rPr sz="2250" b="1" i="1" dirty="0">
                <a:latin typeface="Arial"/>
                <a:cs typeface="Arial"/>
              </a:rPr>
              <a:t>system-level</a:t>
            </a:r>
            <a:r>
              <a:rPr sz="2250" b="1" i="1" spc="135" dirty="0">
                <a:latin typeface="Arial"/>
                <a:cs typeface="Arial"/>
              </a:rPr>
              <a:t> </a:t>
            </a:r>
            <a:r>
              <a:rPr sz="2250" b="1" i="1" spc="105" dirty="0">
                <a:latin typeface="Arial"/>
                <a:cs typeface="Arial"/>
              </a:rPr>
              <a:t>programming</a:t>
            </a:r>
            <a:r>
              <a:rPr sz="2250" b="1" i="1" spc="135" dirty="0">
                <a:latin typeface="Arial"/>
                <a:cs typeface="Arial"/>
              </a:rPr>
              <a:t> </a:t>
            </a:r>
            <a:r>
              <a:rPr sz="2250" b="1" i="1" spc="-10" dirty="0">
                <a:latin typeface="Arial"/>
                <a:cs typeface="Arial"/>
              </a:rPr>
              <a:t>skills.</a:t>
            </a:r>
            <a:endParaRPr sz="22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70"/>
              </a:spcBef>
            </a:pPr>
            <a:r>
              <a:rPr sz="2250" b="1" i="1" spc="90" dirty="0">
                <a:latin typeface="Arial"/>
                <a:cs typeface="Arial"/>
              </a:rPr>
              <a:t>Strong</a:t>
            </a:r>
            <a:r>
              <a:rPr sz="2250" b="1" i="1" spc="30" dirty="0">
                <a:latin typeface="Arial"/>
                <a:cs typeface="Arial"/>
              </a:rPr>
              <a:t> </a:t>
            </a:r>
            <a:r>
              <a:rPr sz="2250" b="1" i="1" spc="105" dirty="0">
                <a:latin typeface="Arial"/>
                <a:cs typeface="Arial"/>
              </a:rPr>
              <a:t>foundation</a:t>
            </a:r>
            <a:r>
              <a:rPr sz="2250" b="1" i="1" spc="35" dirty="0">
                <a:latin typeface="Arial"/>
                <a:cs typeface="Arial"/>
              </a:rPr>
              <a:t> </a:t>
            </a:r>
            <a:r>
              <a:rPr sz="2250" b="1" i="1" spc="100" dirty="0">
                <a:latin typeface="Arial"/>
                <a:cs typeface="Arial"/>
              </a:rPr>
              <a:t>for</a:t>
            </a:r>
            <a:r>
              <a:rPr sz="2250" b="1" i="1" spc="30" dirty="0">
                <a:latin typeface="Arial"/>
                <a:cs typeface="Arial"/>
              </a:rPr>
              <a:t> </a:t>
            </a:r>
            <a:r>
              <a:rPr sz="2250" b="1" i="1" spc="105" dirty="0">
                <a:latin typeface="Arial"/>
                <a:cs typeface="Arial"/>
              </a:rPr>
              <a:t>advanced</a:t>
            </a:r>
            <a:r>
              <a:rPr sz="2250" b="1" i="1" spc="35" dirty="0">
                <a:latin typeface="Arial"/>
                <a:cs typeface="Arial"/>
              </a:rPr>
              <a:t> </a:t>
            </a:r>
            <a:r>
              <a:rPr sz="2250" b="1" i="1" spc="145" dirty="0">
                <a:latin typeface="Arial"/>
                <a:cs typeface="Arial"/>
              </a:rPr>
              <a:t>database</a:t>
            </a:r>
            <a:r>
              <a:rPr sz="2250" b="1" i="1" spc="30" dirty="0">
                <a:latin typeface="Arial"/>
                <a:cs typeface="Arial"/>
              </a:rPr>
              <a:t> </a:t>
            </a:r>
            <a:r>
              <a:rPr sz="2250" b="1" i="1" spc="-10" dirty="0">
                <a:latin typeface="Arial"/>
                <a:cs typeface="Arial"/>
              </a:rPr>
              <a:t>studies.</a:t>
            </a:r>
            <a:endParaRPr sz="22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886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</a:t>
            </a:r>
            <a:r>
              <a:rPr spc="-165" dirty="0"/>
              <a:t> </a:t>
            </a:r>
            <a:r>
              <a:rPr spc="-10" dirty="0"/>
              <a:t>Timeline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048747"/>
            <a:ext cx="9144000" cy="25400"/>
          </a:xfrm>
          <a:custGeom>
            <a:avLst/>
            <a:gdLst/>
            <a:ahLst/>
            <a:cxnLst/>
            <a:rect l="l" t="t" r="r" b="b"/>
            <a:pathLst>
              <a:path w="9144000" h="25400">
                <a:moveTo>
                  <a:pt x="9143999" y="25399"/>
                </a:moveTo>
                <a:lnTo>
                  <a:pt x="0" y="253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25399"/>
                </a:lnTo>
                <a:close/>
              </a:path>
            </a:pathLst>
          </a:custGeom>
          <a:solidFill>
            <a:srgbClr val="0060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08" y="6309320"/>
            <a:ext cx="2411759" cy="3466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177F21-3CD5-961D-4BE6-660C17610A7E}"/>
              </a:ext>
            </a:extLst>
          </p:cNvPr>
          <p:cNvSpPr txBox="1"/>
          <p:nvPr/>
        </p:nvSpPr>
        <p:spPr>
          <a:xfrm>
            <a:off x="176439" y="1104869"/>
            <a:ext cx="8382000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50" dirty="0"/>
              <a:t>Completed Phases</a:t>
            </a:r>
          </a:p>
          <a:p>
            <a:endParaRPr lang="en-US" sz="2250" dirty="0"/>
          </a:p>
          <a:p>
            <a:r>
              <a:rPr lang="en-US" sz="2250" dirty="0"/>
              <a:t>Week 1 - Requirement Analysis &amp; Problem Understanding</a:t>
            </a:r>
          </a:p>
          <a:p>
            <a:endParaRPr lang="en-US" sz="2250" dirty="0"/>
          </a:p>
          <a:p>
            <a:r>
              <a:rPr lang="en-US" sz="2250" dirty="0"/>
              <a:t>Week 2 - System Architecture &amp; Module Design</a:t>
            </a:r>
          </a:p>
          <a:p>
            <a:endParaRPr lang="en-US" sz="2250" dirty="0"/>
          </a:p>
          <a:p>
            <a:r>
              <a:rPr lang="en-US" sz="2250" dirty="0"/>
              <a:t>Week 3–4 - SQL Parser Implementation &amp; Storage Design &amp; Execution Engine</a:t>
            </a:r>
          </a:p>
          <a:p>
            <a:endParaRPr lang="en-US" sz="2250" dirty="0"/>
          </a:p>
          <a:p>
            <a:r>
              <a:rPr lang="en-US" sz="2250" dirty="0"/>
              <a:t>Upcoming Phases</a:t>
            </a:r>
          </a:p>
          <a:p>
            <a:r>
              <a:rPr lang="en-US" sz="2250" dirty="0"/>
              <a:t>Query Planner</a:t>
            </a:r>
          </a:p>
          <a:p>
            <a:r>
              <a:rPr lang="en-US" sz="2250" dirty="0"/>
              <a:t>Indexing using B+ Tree</a:t>
            </a:r>
          </a:p>
          <a:p>
            <a:r>
              <a:rPr lang="en-US" sz="2250" dirty="0"/>
              <a:t>Testing &amp; Validation</a:t>
            </a:r>
          </a:p>
          <a:p>
            <a:r>
              <a:rPr lang="en-US" sz="2250" dirty="0"/>
              <a:t>Documentation &amp; Deployment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008" y="6309320"/>
            <a:ext cx="2411759" cy="34669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941478" y="2697744"/>
            <a:ext cx="543877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b="0" dirty="0">
                <a:solidFill>
                  <a:srgbClr val="0060AA"/>
                </a:solidFill>
                <a:latin typeface="Garamond"/>
                <a:cs typeface="Garamond"/>
              </a:rPr>
              <a:t>THANK</a:t>
            </a:r>
            <a:r>
              <a:rPr sz="7200" b="0" spc="-20" dirty="0">
                <a:solidFill>
                  <a:srgbClr val="0060AA"/>
                </a:solidFill>
                <a:latin typeface="Garamond"/>
                <a:cs typeface="Garamond"/>
              </a:rPr>
              <a:t> </a:t>
            </a:r>
            <a:r>
              <a:rPr sz="7200" b="0" spc="-75" dirty="0">
                <a:solidFill>
                  <a:srgbClr val="E31E24"/>
                </a:solidFill>
                <a:latin typeface="Garamond"/>
                <a:cs typeface="Garamond"/>
              </a:rPr>
              <a:t>YOU</a:t>
            </a:r>
            <a:endParaRPr sz="72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340</TotalTime>
  <Words>387</Words>
  <Application>Microsoft Office PowerPoint</Application>
  <PresentationFormat>On-screen Show (4:3)</PresentationFormat>
  <Paragraphs>86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Garamond</vt:lpstr>
      <vt:lpstr>Times New Roman</vt:lpstr>
      <vt:lpstr>Verdana</vt:lpstr>
      <vt:lpstr>Office Theme</vt:lpstr>
      <vt:lpstr>K.R. MANGALAM</vt:lpstr>
      <vt:lpstr>Design and Implementation of a Mini Relational Database Engine</vt:lpstr>
      <vt:lpstr>Project Overview</vt:lpstr>
      <vt:lpstr>Specific Objectives</vt:lpstr>
      <vt:lpstr>Key Features</vt:lpstr>
      <vt:lpstr>Project Usecases &amp; Scope</vt:lpstr>
      <vt:lpstr>Prototype</vt:lpstr>
      <vt:lpstr>Data &amp; Resources</vt:lpstr>
      <vt:lpstr>Methodology</vt:lpstr>
      <vt:lpstr>Expected Results &amp; Impact</vt:lpstr>
      <vt:lpstr>Project Timeline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4415bc93-6793-4813-9c9a-5fefa49881a8</dc:title>
  <dc:creator>Vikram yadav</dc:creator>
  <cp:lastModifiedBy>Vikram yadav</cp:lastModifiedBy>
  <cp:revision>4</cp:revision>
  <dcterms:created xsi:type="dcterms:W3CDTF">2026-02-05T15:46:33Z</dcterms:created>
  <dcterms:modified xsi:type="dcterms:W3CDTF">2026-02-06T09:12:19Z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2026-02-05T00:00:00Z</vt:filetime>
  </property>
  <property fmtid="{D5CDD505-2E9C-101B-9397-08002B2CF9AE}" pid="3" name="Creator">
    <vt:lpwstr>Google</vt:lpwstr>
  </property>
  <property fmtid="{D5CDD505-2E9C-101B-9397-08002B2CF9AE}" pid="4" name="LastSaved">
    <vt:filetime>2026-02-05T00:00:00Z</vt:filetime>
  </property>
</Properties>
</file>